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Plus Jakarta Sans"/>
      <p:regular r:id="rId14"/>
      <p:bold r:id="rId15"/>
      <p:italic r:id="rId16"/>
      <p:boldItalic r:id="rId17"/>
    </p:embeddedFont>
    <p:embeddedFont>
      <p:font typeface="Montserrat"/>
      <p:regular r:id="rId18"/>
      <p:bold r:id="rId19"/>
      <p:italic r:id="rId20"/>
      <p:boldItalic r:id="rId21"/>
    </p:embeddedFont>
    <p:embeddedFont>
      <p:font typeface="Montserrat Medium"/>
      <p:regular r:id="rId22"/>
      <p:bold r:id="rId23"/>
      <p:italic r:id="rId24"/>
      <p:boldItalic r:id="rId25"/>
    </p:embeddedFont>
    <p:embeddedFont>
      <p:font typeface="Poppins SemiBold"/>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jgEvZ4NuEyApkJRkPzfIkIkDOG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MontserratMedium-regular.fntdata"/><Relationship Id="rId21" Type="http://schemas.openxmlformats.org/officeDocument/2006/relationships/font" Target="fonts/Montserrat-boldItalic.fntdata"/><Relationship Id="rId24" Type="http://schemas.openxmlformats.org/officeDocument/2006/relationships/font" Target="fonts/MontserratMedium-italic.fntdata"/><Relationship Id="rId23" Type="http://schemas.openxmlformats.org/officeDocument/2006/relationships/font" Target="fonts/MontserratMediu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SemiBold-regular.fntdata"/><Relationship Id="rId25" Type="http://schemas.openxmlformats.org/officeDocument/2006/relationships/font" Target="fonts/MontserratMedium-boldItalic.fntdata"/><Relationship Id="rId28" Type="http://schemas.openxmlformats.org/officeDocument/2006/relationships/font" Target="fonts/PoppinsSemiBold-italic.fntdata"/><Relationship Id="rId27" Type="http://schemas.openxmlformats.org/officeDocument/2006/relationships/font" Target="fonts/PoppinsSemi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SemiBold-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7.xml"/><Relationship Id="rId33" Type="http://schemas.openxmlformats.org/officeDocument/2006/relationships/font" Target="fonts/OpenSans-boldItalic.fntdata"/><Relationship Id="rId10" Type="http://schemas.openxmlformats.org/officeDocument/2006/relationships/slide" Target="slides/slide6.xml"/><Relationship Id="rId32"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font" Target="fonts/PlusJakartaSans-bold.fntdata"/><Relationship Id="rId14" Type="http://schemas.openxmlformats.org/officeDocument/2006/relationships/font" Target="fonts/PlusJakartaSans-regular.fntdata"/><Relationship Id="rId17" Type="http://schemas.openxmlformats.org/officeDocument/2006/relationships/font" Target="fonts/PlusJakartaSans-boldItalic.fntdata"/><Relationship Id="rId16" Type="http://schemas.openxmlformats.org/officeDocument/2006/relationships/font" Target="fonts/PlusJakartaSans-italic.fntdata"/><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Plus Jakarta Sans"/>
                <a:ea typeface="Plus Jakarta Sans"/>
                <a:cs typeface="Plus Jakarta Sans"/>
                <a:sym typeface="Plus Jakarta Sans"/>
              </a:rPr>
              <a:t>‹#›</a:t>
            </a:fld>
            <a:endParaRPr b="0" i="0" sz="1200" u="none" cap="none" strike="noStrike">
              <a:solidFill>
                <a:schemeClr val="dk1"/>
              </a:solidFill>
              <a:latin typeface="Plus Jakarta Sans"/>
              <a:ea typeface="Plus Jakarta Sans"/>
              <a:cs typeface="Plus Jakarta Sans"/>
              <a:sym typeface="Plus Jakarta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a516b0401_3_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g31a516b0401_3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0eb2b6892c_0_3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g30eb2b6892c_0_3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ae5748121_0_4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1ae5748121_0_4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0ef4e68118_0_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0ef4e6811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ae5748121_0_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1ae5748121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1ae5748121_0_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1ae5748121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ee63df26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2fee63df26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3" name="Shape 13"/>
        <p:cNvGrpSpPr/>
        <p:nvPr/>
      </p:nvGrpSpPr>
      <p:grpSpPr>
        <a:xfrm>
          <a:off x="0" y="0"/>
          <a:ext cx="0" cy="0"/>
          <a:chOff x="0" y="0"/>
          <a:chExt cx="0" cy="0"/>
        </a:xfrm>
      </p:grpSpPr>
      <p:sp>
        <p:nvSpPr>
          <p:cNvPr id="14" name="Google Shape;14;p4"/>
          <p:cNvSpPr/>
          <p:nvPr>
            <p:ph idx="2" type="pic"/>
          </p:nvPr>
        </p:nvSpPr>
        <p:spPr>
          <a:xfrm>
            <a:off x="1" y="0"/>
            <a:ext cx="12192000" cy="6858000"/>
          </a:xfrm>
          <a:prstGeom prst="rect">
            <a:avLst/>
          </a:prstGeom>
          <a:noFill/>
          <a:ln>
            <a:noFill/>
          </a:ln>
        </p:spPr>
      </p:sp>
      <p:sp>
        <p:nvSpPr>
          <p:cNvPr id="15" name="Google Shape;15;p4"/>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6" name="Shape 16"/>
        <p:cNvGrpSpPr/>
        <p:nvPr/>
      </p:nvGrpSpPr>
      <p:grpSpPr>
        <a:xfrm>
          <a:off x="0" y="0"/>
          <a:ext cx="0" cy="0"/>
          <a:chOff x="0" y="0"/>
          <a:chExt cx="0" cy="0"/>
        </a:xfrm>
      </p:grpSpPr>
      <p:sp>
        <p:nvSpPr>
          <p:cNvPr id="17" name="Google Shape;17;p48"/>
          <p:cNvSpPr/>
          <p:nvPr>
            <p:ph idx="2" type="pic"/>
          </p:nvPr>
        </p:nvSpPr>
        <p:spPr>
          <a:xfrm>
            <a:off x="0" y="0"/>
            <a:ext cx="12192000" cy="6858000"/>
          </a:xfrm>
          <a:prstGeom prst="rect">
            <a:avLst/>
          </a:prstGeom>
          <a:solidFill>
            <a:srgbClr val="F2F2F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General Content">
    <p:spTree>
      <p:nvGrpSpPr>
        <p:cNvPr id="18" name="Shape 18"/>
        <p:cNvGrpSpPr/>
        <p:nvPr/>
      </p:nvGrpSpPr>
      <p:grpSpPr>
        <a:xfrm>
          <a:off x="0" y="0"/>
          <a:ext cx="0" cy="0"/>
          <a:chOff x="0" y="0"/>
          <a:chExt cx="0" cy="0"/>
        </a:xfrm>
      </p:grpSpPr>
      <p:sp>
        <p:nvSpPr>
          <p:cNvPr id="19" name="Google Shape;19;g2f68141a545_0_445"/>
          <p:cNvSpPr/>
          <p:nvPr/>
        </p:nvSpPr>
        <p:spPr>
          <a:xfrm>
            <a:off x="0" y="2689"/>
            <a:ext cx="688500" cy="6858000"/>
          </a:xfrm>
          <a:prstGeom prst="rect">
            <a:avLst/>
          </a:prstGeom>
          <a:solidFill>
            <a:srgbClr val="059AB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 name="Google Shape;20;g2f68141a545_0_445"/>
          <p:cNvSpPr txBox="1"/>
          <p:nvPr>
            <p:ph type="title"/>
          </p:nvPr>
        </p:nvSpPr>
        <p:spPr>
          <a:xfrm>
            <a:off x="850492" y="245369"/>
            <a:ext cx="7572600" cy="531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037692"/>
              </a:buClr>
              <a:buSzPts val="2400"/>
              <a:buFont typeface="Poppins SemiBold"/>
              <a:buNone/>
              <a:defRPr b="0" i="0" sz="2400" u="none" cap="none" strike="noStrike">
                <a:solidFill>
                  <a:srgbClr val="037692"/>
                </a:solidFill>
                <a:latin typeface="Poppins SemiBold"/>
                <a:ea typeface="Poppins SemiBold"/>
                <a:cs typeface="Poppins SemiBold"/>
                <a:sym typeface="Poppins Semi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21" name="Google Shape;21;g2f68141a545_0_445"/>
          <p:cNvPicPr preferRelativeResize="0"/>
          <p:nvPr/>
        </p:nvPicPr>
        <p:blipFill rotWithShape="1">
          <a:blip r:embed="rId2">
            <a:alphaModFix/>
          </a:blip>
          <a:srcRect b="0" l="0" r="0" t="0"/>
          <a:stretch/>
        </p:blipFill>
        <p:spPr>
          <a:xfrm flipH="1">
            <a:off x="850490" y="902171"/>
            <a:ext cx="790813" cy="48294"/>
          </a:xfrm>
          <a:prstGeom prst="rect">
            <a:avLst/>
          </a:prstGeom>
          <a:noFill/>
          <a:ln>
            <a:noFill/>
          </a:ln>
        </p:spPr>
      </p:pic>
      <p:pic>
        <p:nvPicPr>
          <p:cNvPr id="22" name="Google Shape;22;g2f68141a545_0_445"/>
          <p:cNvPicPr preferRelativeResize="0"/>
          <p:nvPr/>
        </p:nvPicPr>
        <p:blipFill rotWithShape="1">
          <a:blip r:embed="rId3">
            <a:alphaModFix/>
          </a:blip>
          <a:srcRect b="0" l="0" r="0" t="0"/>
          <a:stretch/>
        </p:blipFill>
        <p:spPr>
          <a:xfrm>
            <a:off x="1010470" y="5707756"/>
            <a:ext cx="805981" cy="9048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itle Slide">
  <p:cSld name="25_Title Slide">
    <p:spTree>
      <p:nvGrpSpPr>
        <p:cNvPr id="23" name="Shape 2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27884b107a2_2_166"/>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marR="0" rtl="0" algn="l">
              <a:lnSpc>
                <a:spcPct val="90000"/>
              </a:lnSpc>
              <a:spcBef>
                <a:spcPts val="0"/>
              </a:spcBef>
              <a:spcAft>
                <a:spcPts val="0"/>
              </a:spcAft>
              <a:buClr>
                <a:schemeClr val="dk1"/>
              </a:buClr>
              <a:buSzPts val="28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g27884b107a2_2_166"/>
          <p:cNvSpPr txBox="1"/>
          <p:nvPr>
            <p:ph idx="1" type="body"/>
          </p:nvPr>
        </p:nvSpPr>
        <p:spPr>
          <a:xfrm>
            <a:off x="415600" y="1536633"/>
            <a:ext cx="113607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20000"/>
              </a:lnSpc>
              <a:spcBef>
                <a:spcPts val="0"/>
              </a:spcBef>
              <a:spcAft>
                <a:spcPts val="0"/>
              </a:spcAft>
              <a:buClr>
                <a:schemeClr val="dk1"/>
              </a:buClr>
              <a:buSzPts val="1800"/>
              <a:buFont typeface="Arial"/>
              <a:buChar char="●"/>
              <a:defRPr b="0" i="0" sz="1400" u="none" cap="none" strike="noStrike">
                <a:solidFill>
                  <a:srgbClr val="000000"/>
                </a:solidFill>
                <a:latin typeface="Aharoni"/>
                <a:ea typeface="Aharoni"/>
                <a:cs typeface="Aharoni"/>
                <a:sym typeface="Aharoni"/>
              </a:defRPr>
            </a:lvl1pPr>
            <a:lvl2pPr indent="-317500" lvl="1" marL="9144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7" name="Google Shape;27;g27884b107a2_2_166"/>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1pPr>
            <a:lvl2pPr indent="0" lvl="1"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2pPr>
            <a:lvl3pPr indent="0" lvl="2"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3pPr>
            <a:lvl4pPr indent="0" lvl="3"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4pPr>
            <a:lvl5pPr indent="0" lvl="4"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5pPr>
            <a:lvl6pPr indent="0" lvl="5"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6pPr>
            <a:lvl7pPr indent="0" lvl="6"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7pPr>
            <a:lvl8pPr indent="0" lvl="7"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8pPr>
            <a:lvl9pPr indent="0" lvl="8"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8" name="Shape 28"/>
        <p:cNvGrpSpPr/>
        <p:nvPr/>
      </p:nvGrpSpPr>
      <p:grpSpPr>
        <a:xfrm>
          <a:off x="0" y="0"/>
          <a:ext cx="0" cy="0"/>
          <a:chOff x="0" y="0"/>
          <a:chExt cx="0" cy="0"/>
        </a:xfrm>
      </p:grpSpPr>
      <p:sp>
        <p:nvSpPr>
          <p:cNvPr id="29" name="Google Shape;29;g27884b107a2_0_178"/>
          <p:cNvSpPr/>
          <p:nvPr>
            <p:ph idx="2" type="pic"/>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Title Slide">
  <p:cSld name="32_Title Slide">
    <p:spTree>
      <p:nvGrpSpPr>
        <p:cNvPr id="30" name="Shape 30"/>
        <p:cNvGrpSpPr/>
        <p:nvPr/>
      </p:nvGrpSpPr>
      <p:grpSpPr>
        <a:xfrm>
          <a:off x="0" y="0"/>
          <a:ext cx="0" cy="0"/>
          <a:chOff x="0" y="0"/>
          <a:chExt cx="0" cy="0"/>
        </a:xfrm>
      </p:grpSpPr>
      <p:sp>
        <p:nvSpPr>
          <p:cNvPr id="31" name="Google Shape;31;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us Jakarta Sans"/>
              <a:ea typeface="Plus Jakarta Sans"/>
              <a:cs typeface="Plus Jakarta Sans"/>
              <a:sym typeface="Plus Jakarta Sans"/>
            </a:endParaRPr>
          </a:p>
        </p:txBody>
      </p:sp>
      <p:sp>
        <p:nvSpPr>
          <p:cNvPr id="32" name="Google Shape;32;p85"/>
          <p:cNvSpPr/>
          <p:nvPr>
            <p:ph idx="2" type="pic"/>
          </p:nvPr>
        </p:nvSpPr>
        <p:spPr>
          <a:xfrm>
            <a:off x="6816725" y="1268413"/>
            <a:ext cx="2381023" cy="2976935"/>
          </a:xfrm>
          <a:prstGeom prst="rect">
            <a:avLst/>
          </a:prstGeom>
          <a:solidFill>
            <a:srgbClr val="F2F2F2"/>
          </a:solidFill>
          <a:ln>
            <a:noFill/>
          </a:ln>
        </p:spPr>
      </p:sp>
      <p:sp>
        <p:nvSpPr>
          <p:cNvPr id="33" name="Google Shape;33;p85"/>
          <p:cNvSpPr/>
          <p:nvPr>
            <p:ph idx="3" type="pic"/>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g27884b107a2_0_11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Char char="●"/>
              <a:defRPr b="0" i="0" sz="60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6" name="Google Shape;36;g27884b107a2_0_11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rgbClr val="000000"/>
                </a:solidFill>
                <a:latin typeface="Aharoni"/>
                <a:ea typeface="Aharoni"/>
                <a:cs typeface="Aharoni"/>
                <a:sym typeface="Aharon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37" name="Google Shape;37;g27884b107a2_0_1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8" name="Google Shape;38;g27884b107a2_0_1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9" name="Google Shape;39;g27884b107a2_0_1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C1"/>
        </a:solidFill>
      </p:bgPr>
    </p:bg>
    <p:spTree>
      <p:nvGrpSpPr>
        <p:cNvPr id="9"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F7F7F"/>
              </a:buClr>
              <a:buSzPts val="1800"/>
              <a:buFont typeface="Open Sans"/>
              <a:buNone/>
            </a:pPr>
            <a:r>
              <a:rPr b="0" i="0" lang="en-US" sz="1800" u="none" cap="none" strike="noStrike">
                <a:solidFill>
                  <a:srgbClr val="7F7F7F"/>
                </a:solidFill>
                <a:latin typeface="Open Sans"/>
                <a:ea typeface="Open Sans"/>
                <a:cs typeface="Open Sans"/>
                <a:sym typeface="Open Sans"/>
              </a:rPr>
              <a:t>Dept EECE, GST Bengaluru</a:t>
            </a:r>
            <a:endParaRPr b="0" i="0" sz="1800" u="none" cap="none" strike="noStrike">
              <a:solidFill>
                <a:srgbClr val="7F7F7F"/>
              </a:solidFill>
              <a:latin typeface="Open Sans"/>
              <a:ea typeface="Open Sans"/>
              <a:cs typeface="Open Sans"/>
              <a:sym typeface="Open Sans"/>
            </a:endParaRPr>
          </a:p>
        </p:txBody>
      </p:sp>
      <p:pic>
        <p:nvPicPr>
          <p:cNvPr id="11" name="Google Shape;11;p64"/>
          <p:cNvPicPr preferRelativeResize="0"/>
          <p:nvPr/>
        </p:nvPicPr>
        <p:blipFill rotWithShape="1">
          <a:blip r:embed="rId1">
            <a:alphaModFix/>
          </a:blip>
          <a:srcRect b="0" l="0" r="0" t="0"/>
          <a:stretch/>
        </p:blipFill>
        <p:spPr>
          <a:xfrm>
            <a:off x="10545066" y="6107763"/>
            <a:ext cx="1432859" cy="61408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1" Type="http://schemas.openxmlformats.org/officeDocument/2006/relationships/hyperlink" Target="https://ieeexplore.ieee.org/document/9901449/" TargetMode="External"/><Relationship Id="rId10" Type="http://schemas.openxmlformats.org/officeDocument/2006/relationships/hyperlink" Target="https://ieeexplore.ieee.org/document/10980118/" TargetMode="External"/><Relationship Id="rId13" Type="http://schemas.openxmlformats.org/officeDocument/2006/relationships/hyperlink" Target="https://ieeexplore.ieee.org/document/10167628/" TargetMode="External"/><Relationship Id="rId12" Type="http://schemas.openxmlformats.org/officeDocument/2006/relationships/hyperlink" Target="https://ieeexplore.ieee.org/document/468045/" TargetMode="External"/><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doi.org/10.1007/s11831-021-09587-6" TargetMode="External"/><Relationship Id="rId4" Type="http://schemas.openxmlformats.org/officeDocument/2006/relationships/hyperlink" Target="https://doi.org/10.1007/s10462-021-10025-z" TargetMode="External"/><Relationship Id="rId9" Type="http://schemas.openxmlformats.org/officeDocument/2006/relationships/hyperlink" Target="https://ieeexplore.ieee.org/document/6910206/" TargetMode="External"/><Relationship Id="rId5" Type="http://schemas.openxmlformats.org/officeDocument/2006/relationships/hyperlink" Target="https://doi.org/10.1007/s11042-023-15156-9" TargetMode="External"/><Relationship Id="rId6" Type="http://schemas.openxmlformats.org/officeDocument/2006/relationships/hyperlink" Target="https://doi.org/10.1117/1.JEI.31.6.060901" TargetMode="External"/><Relationship Id="rId7" Type="http://schemas.openxmlformats.org/officeDocument/2006/relationships/hyperlink" Target="https://doi.org/10.1007/s11042-021-10626-4" TargetMode="External"/><Relationship Id="rId8" Type="http://schemas.openxmlformats.org/officeDocument/2006/relationships/hyperlink" Target="https://ieeexplore.ieee.org/document/919892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21.jpg"/><Relationship Id="rId5" Type="http://schemas.openxmlformats.org/officeDocument/2006/relationships/image" Target="../media/image13.jpg"/><Relationship Id="rId6" Type="http://schemas.openxmlformats.org/officeDocument/2006/relationships/image" Target="../media/image12.jpg"/><Relationship Id="rId7" Type="http://schemas.openxmlformats.org/officeDocument/2006/relationships/image" Target="../media/image20.jpg"/><Relationship Id="rId8"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4.jpg"/><Relationship Id="rId5" Type="http://schemas.openxmlformats.org/officeDocument/2006/relationships/image" Target="../media/image17.jpg"/><Relationship Id="rId6" Type="http://schemas.openxmlformats.org/officeDocument/2006/relationships/image" Target="../media/image16.jpg"/><Relationship Id="rId7" Type="http://schemas.openxmlformats.org/officeDocument/2006/relationships/image" Target="../media/image10.jpg"/><Relationship Id="rId8"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2"/>
          <p:cNvSpPr txBox="1"/>
          <p:nvPr>
            <p:ph idx="12" type="sldNum"/>
          </p:nvPr>
        </p:nvSpPr>
        <p:spPr>
          <a:xfrm>
            <a:off x="11460163" y="6218238"/>
            <a:ext cx="731837" cy="5238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45" name="Google Shape;45;p2"/>
          <p:cNvPicPr preferRelativeResize="0"/>
          <p:nvPr/>
        </p:nvPicPr>
        <p:blipFill rotWithShape="1">
          <a:blip r:embed="rId3">
            <a:alphaModFix amt="20000"/>
          </a:blip>
          <a:srcRect b="19493" l="1514" r="2310" t="0"/>
          <a:stretch/>
        </p:blipFill>
        <p:spPr>
          <a:xfrm>
            <a:off x="12078" y="61546"/>
            <a:ext cx="12193238" cy="6734916"/>
          </a:xfrm>
          <a:prstGeom prst="rect">
            <a:avLst/>
          </a:prstGeom>
          <a:noFill/>
          <a:ln>
            <a:noFill/>
          </a:ln>
        </p:spPr>
      </p:pic>
      <p:sp>
        <p:nvSpPr>
          <p:cNvPr id="46" name="Google Shape;46;p2"/>
          <p:cNvSpPr txBox="1"/>
          <p:nvPr/>
        </p:nvSpPr>
        <p:spPr>
          <a:xfrm>
            <a:off x="2904067" y="3157752"/>
            <a:ext cx="6383867"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7069"/>
                </a:solidFill>
                <a:latin typeface="Open Sans"/>
                <a:ea typeface="Open Sans"/>
                <a:cs typeface="Open Sans"/>
                <a:sym typeface="Open Sans"/>
              </a:rPr>
              <a:t>GITAM (Deemed-to-be) University</a:t>
            </a:r>
            <a:endParaRPr b="0" i="0" sz="2800" u="none" cap="none" strike="noStrike">
              <a:solidFill>
                <a:srgbClr val="000000"/>
              </a:solidFill>
              <a:latin typeface="Arial"/>
              <a:ea typeface="Arial"/>
              <a:cs typeface="Arial"/>
              <a:sym typeface="Arial"/>
            </a:endParaRPr>
          </a:p>
        </p:txBody>
      </p:sp>
      <p:sp>
        <p:nvSpPr>
          <p:cNvPr id="47" name="Google Shape;47;p2"/>
          <p:cNvSpPr/>
          <p:nvPr/>
        </p:nvSpPr>
        <p:spPr>
          <a:xfrm>
            <a:off x="3060700" y="6148918"/>
            <a:ext cx="609600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7F7F7F"/>
                </a:solidFill>
                <a:latin typeface="Montserrat Medium"/>
                <a:ea typeface="Montserrat Medium"/>
                <a:cs typeface="Montserrat Medium"/>
                <a:sym typeface="Montserrat Medium"/>
              </a:rPr>
              <a:t>www.gitam.edu</a:t>
            </a:r>
            <a:endParaRPr b="0" i="0" sz="1200" u="none" cap="none" strike="noStrike">
              <a:solidFill>
                <a:srgbClr val="7F7F7F"/>
              </a:solidFill>
              <a:latin typeface="Montserrat Medium"/>
              <a:ea typeface="Montserrat Medium"/>
              <a:cs typeface="Montserrat Medium"/>
              <a:sym typeface="Montserrat Medium"/>
            </a:endParaRPr>
          </a:p>
        </p:txBody>
      </p:sp>
      <p:grpSp>
        <p:nvGrpSpPr>
          <p:cNvPr id="48" name="Google Shape;48;p2"/>
          <p:cNvGrpSpPr/>
          <p:nvPr/>
        </p:nvGrpSpPr>
        <p:grpSpPr>
          <a:xfrm rot="2700000">
            <a:off x="5984712" y="5183993"/>
            <a:ext cx="231043" cy="225933"/>
            <a:chOff x="11087593" y="13905"/>
            <a:chExt cx="1085533" cy="1061509"/>
          </a:xfrm>
        </p:grpSpPr>
        <p:sp>
          <p:nvSpPr>
            <p:cNvPr id="49" name="Google Shape;49;p2"/>
            <p:cNvSpPr/>
            <p:nvPr/>
          </p:nvSpPr>
          <p:spPr>
            <a:xfrm>
              <a:off x="11087593" y="548342"/>
              <a:ext cx="537028" cy="527072"/>
            </a:xfrm>
            <a:prstGeom prst="rect">
              <a:avLst/>
            </a:prstGeom>
            <a:solidFill>
              <a:srgbClr val="DF2A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sp>
          <p:nvSpPr>
            <p:cNvPr id="50" name="Google Shape;50;p2"/>
            <p:cNvSpPr/>
            <p:nvPr/>
          </p:nvSpPr>
          <p:spPr>
            <a:xfrm>
              <a:off x="11636098" y="13905"/>
              <a:ext cx="537028" cy="527079"/>
            </a:xfrm>
            <a:prstGeom prst="rect">
              <a:avLst/>
            </a:prstGeom>
            <a:solidFill>
              <a:srgbClr val="3A3A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grpSp>
      <p:sp>
        <p:nvSpPr>
          <p:cNvPr id="51" name="Google Shape;51;p2"/>
          <p:cNvSpPr/>
          <p:nvPr/>
        </p:nvSpPr>
        <p:spPr>
          <a:xfrm>
            <a:off x="2904067" y="3856219"/>
            <a:ext cx="6096000" cy="64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Montserrat Medium"/>
                <a:ea typeface="Montserrat Medium"/>
                <a:cs typeface="Montserrat Medium"/>
                <a:sym typeface="Montserrat Medium"/>
              </a:rPr>
              <a:t>Department of Electrical Electronics and Communication Engineering</a:t>
            </a:r>
            <a:endParaRPr b="1" i="0" sz="1800" u="none" cap="none" strike="noStrike">
              <a:solidFill>
                <a:schemeClr val="dk1"/>
              </a:solidFill>
              <a:latin typeface="Arial"/>
              <a:ea typeface="Arial"/>
              <a:cs typeface="Arial"/>
              <a:sym typeface="Arial"/>
            </a:endParaRPr>
          </a:p>
        </p:txBody>
      </p:sp>
      <p:sp>
        <p:nvSpPr>
          <p:cNvPr id="52" name="Google Shape;52;p2"/>
          <p:cNvSpPr/>
          <p:nvPr/>
        </p:nvSpPr>
        <p:spPr>
          <a:xfrm>
            <a:off x="9156700" y="5791918"/>
            <a:ext cx="2926946"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53" name="Google Shape;53;p2"/>
          <p:cNvSpPr/>
          <p:nvPr/>
        </p:nvSpPr>
        <p:spPr>
          <a:xfrm>
            <a:off x="133754" y="4504626"/>
            <a:ext cx="2926946" cy="11695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Team: </a:t>
            </a:r>
            <a:endParaRPr/>
          </a:p>
          <a:p>
            <a:pPr indent="-285750" lvl="0" marL="285750" marR="0" rtl="0" algn="l">
              <a:lnSpc>
                <a:spcPct val="100000"/>
              </a:lnSpc>
              <a:spcBef>
                <a:spcPts val="0"/>
              </a:spcBef>
              <a:spcAft>
                <a:spcPts val="0"/>
              </a:spcAft>
              <a:buClr>
                <a:srgbClr val="000000"/>
              </a:buClr>
              <a:buSzPts val="1400"/>
              <a:buFont typeface="Arial"/>
              <a:buChar char="•"/>
            </a:pPr>
            <a:r>
              <a:rPr b="1" lang="en-US">
                <a:solidFill>
                  <a:schemeClr val="dk1"/>
                </a:solidFill>
                <a:latin typeface="Montserrat Medium"/>
                <a:ea typeface="Montserrat Medium"/>
                <a:cs typeface="Montserrat Medium"/>
                <a:sym typeface="Montserrat Medium"/>
              </a:rPr>
              <a:t>Meruga Sanjana</a:t>
            </a:r>
            <a:endParaRPr/>
          </a:p>
          <a:p>
            <a:pPr indent="-285750" lvl="0" marL="285750" marR="0" rtl="0" algn="l">
              <a:lnSpc>
                <a:spcPct val="100000"/>
              </a:lnSpc>
              <a:spcBef>
                <a:spcPts val="0"/>
              </a:spcBef>
              <a:spcAft>
                <a:spcPts val="0"/>
              </a:spcAft>
              <a:buClr>
                <a:srgbClr val="000000"/>
              </a:buClr>
              <a:buSzPts val="1400"/>
              <a:buFont typeface="Arial"/>
              <a:buChar char="•"/>
            </a:pPr>
            <a:r>
              <a:rPr b="1" lang="en-US">
                <a:solidFill>
                  <a:schemeClr val="dk1"/>
                </a:solidFill>
                <a:latin typeface="Montserrat Medium"/>
                <a:ea typeface="Montserrat Medium"/>
                <a:cs typeface="Montserrat Medium"/>
                <a:sym typeface="Montserrat Medium"/>
              </a:rPr>
              <a:t>Starow Cynthia</a:t>
            </a:r>
            <a:endParaRPr b="1"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t/>
            </a:r>
            <a:endParaRPr b="1" i="0" sz="1400" u="none" cap="none" strike="noStrike">
              <a:solidFill>
                <a:schemeClr val="dk1"/>
              </a:solidFill>
              <a:latin typeface="Montserrat Medium"/>
              <a:ea typeface="Montserrat Medium"/>
              <a:cs typeface="Montserrat Medium"/>
              <a:sym typeface="Montserrat Medium"/>
            </a:endParaRPr>
          </a:p>
          <a:p>
            <a:pPr indent="-196850" lvl="0" marL="28575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54" name="Google Shape;54;p2"/>
          <p:cNvSpPr/>
          <p:nvPr/>
        </p:nvSpPr>
        <p:spPr>
          <a:xfrm>
            <a:off x="9322056" y="5040405"/>
            <a:ext cx="2926946" cy="9540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Mentor: </a:t>
            </a:r>
            <a:endParaRPr/>
          </a:p>
          <a:p>
            <a:pPr indent="-285750" lvl="0" marL="285750" marR="0" rtl="0" algn="l">
              <a:lnSpc>
                <a:spcPct val="100000"/>
              </a:lnSpc>
              <a:spcBef>
                <a:spcPts val="0"/>
              </a:spcBef>
              <a:spcAft>
                <a:spcPts val="0"/>
              </a:spcAft>
              <a:buClr>
                <a:srgbClr val="000000"/>
              </a:buClr>
              <a:buSzPts val="1400"/>
              <a:buFont typeface="Arial"/>
              <a:buChar char="•"/>
            </a:pPr>
            <a:r>
              <a:rPr b="1" lang="en-US">
                <a:solidFill>
                  <a:schemeClr val="dk1"/>
                </a:solidFill>
                <a:latin typeface="Montserrat Medium"/>
                <a:ea typeface="Montserrat Medium"/>
                <a:cs typeface="Montserrat Medium"/>
                <a:sym typeface="Montserrat Medium"/>
              </a:rPr>
              <a:t>Dr. Ajay kumar Mandava</a:t>
            </a:r>
            <a:r>
              <a:rPr b="1" i="0" lang="en-US" sz="1400" u="none" cap="none" strike="noStrike">
                <a:solidFill>
                  <a:schemeClr val="dk1"/>
                </a:solidFill>
                <a:latin typeface="Montserrat Medium"/>
                <a:ea typeface="Montserrat Medium"/>
                <a:cs typeface="Montserrat Medium"/>
                <a:sym typeface="Montserrat Medium"/>
              </a:rPr>
              <a:t> </a:t>
            </a:r>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In-charge: </a:t>
            </a:r>
            <a:endParaRPr/>
          </a:p>
          <a:p>
            <a:pPr indent="-285750" lvl="0" marL="285750" marR="0" rtl="0" algn="l">
              <a:lnSpc>
                <a:spcPct val="100000"/>
              </a:lnSpc>
              <a:spcBef>
                <a:spcPts val="0"/>
              </a:spcBef>
              <a:spcAft>
                <a:spcPts val="0"/>
              </a:spcAft>
              <a:buClr>
                <a:srgbClr val="000000"/>
              </a:buClr>
              <a:buSzPts val="1400"/>
              <a:buFont typeface="Arial"/>
              <a:buChar char="•"/>
            </a:pPr>
            <a:r>
              <a:rPr b="1" lang="en-US">
                <a:solidFill>
                  <a:schemeClr val="dk1"/>
                </a:solidFill>
                <a:latin typeface="Montserrat Medium"/>
                <a:ea typeface="Montserrat Medium"/>
                <a:cs typeface="Montserrat Medium"/>
                <a:sym typeface="Montserrat Medium"/>
              </a:rPr>
              <a:t>Kshitij shakay</a:t>
            </a:r>
            <a:endParaRPr b="1" i="0" sz="1400" u="none" cap="none" strike="noStrike">
              <a:solidFill>
                <a:schemeClr val="dk1"/>
              </a:solidFill>
              <a:latin typeface="Arial"/>
              <a:ea typeface="Arial"/>
              <a:cs typeface="Arial"/>
              <a:sym typeface="Arial"/>
            </a:endParaRPr>
          </a:p>
        </p:txBody>
      </p:sp>
      <p:pic>
        <p:nvPicPr>
          <p:cNvPr id="55" name="Google Shape;55;p2"/>
          <p:cNvPicPr preferRelativeResize="0"/>
          <p:nvPr/>
        </p:nvPicPr>
        <p:blipFill rotWithShape="1">
          <a:blip r:embed="rId4">
            <a:alphaModFix/>
          </a:blip>
          <a:srcRect b="0" l="0" r="0" t="0"/>
          <a:stretch/>
        </p:blipFill>
        <p:spPr>
          <a:xfrm>
            <a:off x="4601352" y="1778687"/>
            <a:ext cx="2674631" cy="1245671"/>
          </a:xfrm>
          <a:prstGeom prst="rect">
            <a:avLst/>
          </a:prstGeom>
          <a:noFill/>
          <a:ln>
            <a:noFill/>
          </a:ln>
        </p:spPr>
      </p:pic>
      <p:sp>
        <p:nvSpPr>
          <p:cNvPr id="56" name="Google Shape;56;p2"/>
          <p:cNvSpPr txBox="1"/>
          <p:nvPr/>
        </p:nvSpPr>
        <p:spPr>
          <a:xfrm>
            <a:off x="1209775" y="276000"/>
            <a:ext cx="8954700" cy="960000"/>
          </a:xfrm>
          <a:prstGeom prst="rect">
            <a:avLst/>
          </a:prstGeom>
          <a:noFill/>
          <a:ln>
            <a:noFill/>
          </a:ln>
        </p:spPr>
        <p:txBody>
          <a:bodyPr anchorCtr="0" anchor="t" bIns="45700" lIns="91425" spcFirstLastPara="1" rIns="91425" wrap="square" tIns="45700">
            <a:spAutoFit/>
          </a:bodyPr>
          <a:lstStyle/>
          <a:p>
            <a:pPr indent="0" lvl="0" marL="540385" marR="490219" rtl="0" algn="ctr">
              <a:lnSpc>
                <a:spcPct val="108750"/>
              </a:lnSpc>
              <a:spcBef>
                <a:spcPts val="350"/>
              </a:spcBef>
              <a:spcAft>
                <a:spcPts val="0"/>
              </a:spcAft>
              <a:buNone/>
            </a:pPr>
            <a:r>
              <a:rPr b="1" lang="en-US" sz="2700">
                <a:solidFill>
                  <a:srgbClr val="007367"/>
                </a:solidFill>
                <a:latin typeface="Times New Roman"/>
                <a:ea typeface="Times New Roman"/>
                <a:cs typeface="Times New Roman"/>
                <a:sym typeface="Times New Roman"/>
              </a:rPr>
              <a:t>Image Enhancement Approaches for Improved Visual Quality and Analysis</a:t>
            </a:r>
            <a:endParaRPr b="0" i="0" sz="3700" u="none" cap="none" strike="noStrike">
              <a:solidFill>
                <a:srgbClr val="000000"/>
              </a:solidFill>
              <a:latin typeface="Arial"/>
              <a:ea typeface="Arial"/>
              <a:cs typeface="Arial"/>
              <a:sym typeface="Arial"/>
            </a:endParaRPr>
          </a:p>
        </p:txBody>
      </p:sp>
      <p:sp>
        <p:nvSpPr>
          <p:cNvPr id="57" name="Google Shape;57;p2"/>
          <p:cNvSpPr txBox="1"/>
          <p:nvPr/>
        </p:nvSpPr>
        <p:spPr>
          <a:xfrm>
            <a:off x="9812887" y="141274"/>
            <a:ext cx="224536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7069"/>
                </a:solidFill>
                <a:latin typeface="Open Sans"/>
                <a:ea typeface="Open Sans"/>
                <a:cs typeface="Open Sans"/>
                <a:sym typeface="Open Sans"/>
              </a:rPr>
              <a:t>Review-I</a:t>
            </a:r>
            <a:endParaRPr b="0" i="1" sz="2000" u="none" cap="none" strike="noStrike">
              <a:solidFill>
                <a:srgbClr val="000000"/>
              </a:solidFill>
              <a:latin typeface="Arial"/>
              <a:ea typeface="Arial"/>
              <a:cs typeface="Arial"/>
              <a:sym typeface="Arial"/>
            </a:endParaRPr>
          </a:p>
        </p:txBody>
      </p:sp>
      <p:sp>
        <p:nvSpPr>
          <p:cNvPr id="58" name="Google Shape;58;p2"/>
          <p:cNvSpPr/>
          <p:nvPr/>
        </p:nvSpPr>
        <p:spPr>
          <a:xfrm>
            <a:off x="133753" y="2965411"/>
            <a:ext cx="2432050" cy="818907"/>
          </a:xfrm>
          <a:prstGeom prst="roundRect">
            <a:avLst>
              <a:gd fmla="val 16667" name="adj"/>
            </a:avLst>
          </a:prstGeom>
          <a:solidFill>
            <a:srgbClr val="FFC000"/>
          </a:solidFill>
          <a:ln cap="flat" cmpd="sng" w="25400">
            <a:solidFill>
              <a:srgbClr val="A042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1800" u="none" cap="none" strike="noStrike">
                <a:solidFill>
                  <a:schemeClr val="lt1"/>
                </a:solidFill>
                <a:latin typeface="Verdana"/>
                <a:ea typeface="Verdana"/>
                <a:cs typeface="Verdana"/>
                <a:sym typeface="Verdana"/>
              </a:rPr>
              <a:t>AY 2025-26 </a:t>
            </a:r>
            <a:endParaRPr b="1" i="0" sz="900" u="none" cap="none" strike="noStrike">
              <a:solidFill>
                <a:srgbClr val="000000"/>
              </a:solidFill>
              <a:latin typeface="Arial"/>
              <a:ea typeface="Arial"/>
              <a:cs typeface="Arial"/>
              <a:sym typeface="Arial"/>
            </a:endParaRPr>
          </a:p>
        </p:txBody>
      </p:sp>
      <p:sp>
        <p:nvSpPr>
          <p:cNvPr id="59" name="Google Shape;59;p2"/>
          <p:cNvSpPr/>
          <p:nvPr/>
        </p:nvSpPr>
        <p:spPr>
          <a:xfrm>
            <a:off x="9287933" y="2965412"/>
            <a:ext cx="2770314" cy="818907"/>
          </a:xfrm>
          <a:prstGeom prst="roundRect">
            <a:avLst>
              <a:gd fmla="val 16667" name="adj"/>
            </a:avLst>
          </a:prstGeom>
          <a:solidFill>
            <a:srgbClr val="EAA600"/>
          </a:solidFill>
          <a:ln cap="flat" cmpd="sng" w="25400">
            <a:solidFill>
              <a:srgbClr val="A042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Verdana"/>
                <a:ea typeface="Verdana"/>
                <a:cs typeface="Verdana"/>
                <a:sym typeface="Verdana"/>
              </a:rPr>
              <a:t>Capstone Project – Introduction (PROJ2999)</a:t>
            </a:r>
            <a:endParaRPr b="1" i="0" sz="1800" u="none" cap="none" strike="noStrike">
              <a:solidFill>
                <a:schemeClr val="lt1"/>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1a516b0401_3_10"/>
          <p:cNvSpPr txBox="1"/>
          <p:nvPr/>
        </p:nvSpPr>
        <p:spPr>
          <a:xfrm>
            <a:off x="1055699" y="117925"/>
            <a:ext cx="10515600" cy="49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Objective and Goals</a:t>
            </a:r>
            <a:endParaRPr b="0" i="0" sz="1400" u="none" cap="none" strike="noStrike">
              <a:solidFill>
                <a:srgbClr val="000000"/>
              </a:solidFill>
              <a:latin typeface="Arial"/>
              <a:ea typeface="Arial"/>
              <a:cs typeface="Arial"/>
              <a:sym typeface="Arial"/>
            </a:endParaRPr>
          </a:p>
        </p:txBody>
      </p:sp>
      <p:sp>
        <p:nvSpPr>
          <p:cNvPr id="65" name="Google Shape;65;g31a516b0401_3_10"/>
          <p:cNvSpPr/>
          <p:nvPr/>
        </p:nvSpPr>
        <p:spPr>
          <a:xfrm>
            <a:off x="550606" y="732705"/>
            <a:ext cx="2114400" cy="302100"/>
          </a:xfrm>
          <a:prstGeom prst="roundRect">
            <a:avLst>
              <a:gd fmla="val 16667" name="adj"/>
            </a:avLst>
          </a:prstGeom>
          <a:solidFill>
            <a:srgbClr val="191919"/>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2000" u="none" cap="none" strike="noStrike">
                <a:solidFill>
                  <a:schemeClr val="lt1"/>
                </a:solidFill>
                <a:latin typeface="Verdana"/>
                <a:ea typeface="Verdana"/>
                <a:cs typeface="Verdana"/>
                <a:sym typeface="Verdana"/>
              </a:rPr>
              <a:t>Objective </a:t>
            </a:r>
            <a:endParaRPr b="1" i="0" sz="1000" u="none" cap="none" strike="noStrike">
              <a:solidFill>
                <a:srgbClr val="000000"/>
              </a:solidFill>
              <a:latin typeface="Arial"/>
              <a:ea typeface="Arial"/>
              <a:cs typeface="Arial"/>
              <a:sym typeface="Arial"/>
            </a:endParaRPr>
          </a:p>
        </p:txBody>
      </p:sp>
      <p:sp>
        <p:nvSpPr>
          <p:cNvPr id="66" name="Google Shape;66;g31a516b0401_3_10"/>
          <p:cNvSpPr/>
          <p:nvPr/>
        </p:nvSpPr>
        <p:spPr>
          <a:xfrm>
            <a:off x="550606" y="2320825"/>
            <a:ext cx="2114400" cy="302100"/>
          </a:xfrm>
          <a:prstGeom prst="roundRect">
            <a:avLst>
              <a:gd fmla="val 16667" name="adj"/>
            </a:avLst>
          </a:prstGeom>
          <a:solidFill>
            <a:srgbClr val="191919"/>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2000" u="none" cap="none" strike="noStrike">
                <a:solidFill>
                  <a:schemeClr val="lt1"/>
                </a:solidFill>
                <a:latin typeface="Verdana"/>
                <a:ea typeface="Verdana"/>
                <a:cs typeface="Verdana"/>
                <a:sym typeface="Verdana"/>
              </a:rPr>
              <a:t>Goals</a:t>
            </a:r>
            <a:endParaRPr b="1" i="0" sz="1000" u="none" cap="none" strike="noStrike">
              <a:solidFill>
                <a:srgbClr val="000000"/>
              </a:solidFill>
              <a:latin typeface="Arial"/>
              <a:ea typeface="Arial"/>
              <a:cs typeface="Arial"/>
              <a:sym typeface="Arial"/>
            </a:endParaRPr>
          </a:p>
        </p:txBody>
      </p:sp>
      <p:sp>
        <p:nvSpPr>
          <p:cNvPr id="67" name="Google Shape;67;g31a516b0401_3_10"/>
          <p:cNvSpPr txBox="1"/>
          <p:nvPr/>
        </p:nvSpPr>
        <p:spPr>
          <a:xfrm>
            <a:off x="662850" y="1155775"/>
            <a:ext cx="11702400" cy="2632200"/>
          </a:xfrm>
          <a:prstGeom prst="rect">
            <a:avLst/>
          </a:prstGeom>
          <a:noFill/>
          <a:ln>
            <a:noFill/>
          </a:ln>
        </p:spPr>
        <p:txBody>
          <a:bodyPr anchorCtr="0" anchor="t" bIns="45700" lIns="91425" spcFirstLastPara="1" rIns="91425" wrap="square" tIns="45700">
            <a:spAutoFit/>
          </a:bodyPr>
          <a:lstStyle/>
          <a:p>
            <a:pPr indent="-349250" lvl="0" marL="457200" rtl="0" algn="just">
              <a:spcBef>
                <a:spcPts val="1200"/>
              </a:spcBef>
              <a:spcAft>
                <a:spcPts val="0"/>
              </a:spcAft>
              <a:buSzPts val="1900"/>
              <a:buFont typeface="Lora"/>
              <a:buAutoNum type="arabicPeriod"/>
            </a:pPr>
            <a:r>
              <a:rPr lang="en-US" sz="1900"/>
              <a:t>Improve images degraded by noise, low contrast, haze, or poor illumination</a:t>
            </a:r>
            <a:endParaRPr sz="1900"/>
          </a:p>
          <a:p>
            <a:pPr indent="-349250" lvl="0" marL="457200" rtl="0" algn="just">
              <a:spcBef>
                <a:spcPts val="0"/>
              </a:spcBef>
              <a:spcAft>
                <a:spcPts val="0"/>
              </a:spcAft>
              <a:buSzPts val="1900"/>
              <a:buFont typeface="Lora"/>
              <a:buAutoNum type="arabicPeriod"/>
            </a:pPr>
            <a:r>
              <a:rPr lang="en-US" sz="1900"/>
              <a:t>Implement and assess image enhancement techniques (spatial and transform domain).</a:t>
            </a:r>
            <a:endParaRPr sz="1900"/>
          </a:p>
          <a:p>
            <a:pPr indent="-349250" lvl="0" marL="457200" rtl="0" algn="just">
              <a:spcBef>
                <a:spcPts val="0"/>
              </a:spcBef>
              <a:spcAft>
                <a:spcPts val="0"/>
              </a:spcAft>
              <a:buSzPts val="1900"/>
              <a:buFont typeface="Lora"/>
              <a:buAutoNum type="arabicPeriod"/>
            </a:pPr>
            <a:r>
              <a:rPr lang="en-US" sz="1900"/>
              <a:t>Enhance brightness, contrast, sharpness, and color fidelity.</a:t>
            </a:r>
            <a:endParaRPr sz="1900"/>
          </a:p>
          <a:p>
            <a:pPr indent="0" lvl="0" marL="457200" rtl="0" algn="just">
              <a:spcBef>
                <a:spcPts val="1200"/>
              </a:spcBef>
              <a:spcAft>
                <a:spcPts val="0"/>
              </a:spcAft>
              <a:buNone/>
            </a:pPr>
            <a:br>
              <a:rPr b="1" lang="en-US" sz="1800">
                <a:latin typeface="Times New Roman"/>
                <a:ea typeface="Times New Roman"/>
                <a:cs typeface="Times New Roman"/>
                <a:sym typeface="Times New Roman"/>
              </a:rPr>
            </a:br>
            <a:endParaRPr/>
          </a:p>
          <a:p>
            <a:pPr indent="0" lvl="0" marL="0" marR="0" rtl="0" algn="l">
              <a:lnSpc>
                <a:spcPct val="100000"/>
              </a:lnSpc>
              <a:spcBef>
                <a:spcPts val="120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p>
        </p:txBody>
      </p:sp>
      <p:sp>
        <p:nvSpPr>
          <p:cNvPr id="68" name="Google Shape;68;g31a516b0401_3_10"/>
          <p:cNvSpPr txBox="1"/>
          <p:nvPr/>
        </p:nvSpPr>
        <p:spPr>
          <a:xfrm>
            <a:off x="662850" y="2791075"/>
            <a:ext cx="11301300" cy="41556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400"/>
              </a:spcBef>
              <a:spcAft>
                <a:spcPts val="0"/>
              </a:spcAft>
              <a:buNone/>
            </a:pPr>
            <a:r>
              <a:rPr b="1" lang="en-US" sz="1900"/>
              <a:t>Main Goals</a:t>
            </a:r>
            <a:endParaRPr b="1" sz="1900"/>
          </a:p>
          <a:p>
            <a:pPr indent="-349250" lvl="0" marL="457200" rtl="0" algn="just">
              <a:lnSpc>
                <a:spcPct val="115000"/>
              </a:lnSpc>
              <a:spcBef>
                <a:spcPts val="1400"/>
              </a:spcBef>
              <a:spcAft>
                <a:spcPts val="0"/>
              </a:spcAft>
              <a:buSzPts val="1900"/>
              <a:buAutoNum type="arabicPeriod"/>
            </a:pPr>
            <a:r>
              <a:rPr lang="en-US" sz="1900"/>
              <a:t>Restore clarity and essential details in images.</a:t>
            </a:r>
            <a:endParaRPr sz="1900"/>
          </a:p>
          <a:p>
            <a:pPr indent="-349250" lvl="0" marL="457200" rtl="0" algn="just">
              <a:lnSpc>
                <a:spcPct val="115000"/>
              </a:lnSpc>
              <a:spcBef>
                <a:spcPts val="0"/>
              </a:spcBef>
              <a:spcAft>
                <a:spcPts val="0"/>
              </a:spcAft>
              <a:buSzPts val="1900"/>
              <a:buAutoNum type="arabicPeriod"/>
            </a:pPr>
            <a:r>
              <a:rPr lang="en-US" sz="1900"/>
              <a:t>Achieve notable improvements in overall image quality.</a:t>
            </a:r>
            <a:endParaRPr sz="1900"/>
          </a:p>
          <a:p>
            <a:pPr indent="-349250" lvl="0" marL="457200" rtl="0" algn="just">
              <a:lnSpc>
                <a:spcPct val="115000"/>
              </a:lnSpc>
              <a:spcBef>
                <a:spcPts val="0"/>
              </a:spcBef>
              <a:spcAft>
                <a:spcPts val="0"/>
              </a:spcAft>
              <a:buSzPts val="1900"/>
              <a:buAutoNum type="arabicPeriod"/>
            </a:pPr>
            <a:r>
              <a:rPr lang="en-US" sz="1900"/>
              <a:t>Provide a strong basis for subsequent tasks such as segmentation, feature extraction, and image stitching.</a:t>
            </a:r>
            <a:endParaRPr b="1" sz="1900"/>
          </a:p>
          <a:p>
            <a:pPr indent="0" lvl="0" marL="0" rtl="0" algn="just">
              <a:lnSpc>
                <a:spcPct val="115000"/>
              </a:lnSpc>
              <a:spcBef>
                <a:spcPts val="1400"/>
              </a:spcBef>
              <a:spcAft>
                <a:spcPts val="0"/>
              </a:spcAft>
              <a:buNone/>
            </a:pPr>
            <a:r>
              <a:rPr b="1" lang="en-US" sz="1900"/>
              <a:t>Additional Goals</a:t>
            </a:r>
            <a:endParaRPr b="1" sz="1300"/>
          </a:p>
          <a:p>
            <a:pPr indent="-349250" lvl="0" marL="457200" rtl="0" algn="l">
              <a:lnSpc>
                <a:spcPct val="115000"/>
              </a:lnSpc>
              <a:spcBef>
                <a:spcPts val="1200"/>
              </a:spcBef>
              <a:spcAft>
                <a:spcPts val="0"/>
              </a:spcAft>
              <a:buSzPts val="1900"/>
              <a:buAutoNum type="arabicPeriod"/>
            </a:pPr>
            <a:r>
              <a:rPr lang="en-US" sz="1900"/>
              <a:t>Extend applications to medical imaging, remote sensing, surveillance, and photography.</a:t>
            </a:r>
            <a:endParaRPr sz="1900"/>
          </a:p>
          <a:p>
            <a:pPr indent="-349250" lvl="0" marL="457200" rtl="0" algn="l">
              <a:lnSpc>
                <a:spcPct val="115000"/>
              </a:lnSpc>
              <a:spcBef>
                <a:spcPts val="0"/>
              </a:spcBef>
              <a:spcAft>
                <a:spcPts val="0"/>
              </a:spcAft>
              <a:buSzPts val="1900"/>
              <a:buAutoNum type="arabicPeriod"/>
            </a:pPr>
            <a:r>
              <a:rPr lang="en-US" sz="1900"/>
              <a:t>Improve both human perception and automated analysis of images.</a:t>
            </a:r>
            <a:endParaRPr sz="1900"/>
          </a:p>
          <a:p>
            <a:pPr indent="0" lvl="0" marL="457200" rtl="0" algn="l">
              <a:lnSpc>
                <a:spcPct val="115000"/>
              </a:lnSpc>
              <a:spcBef>
                <a:spcPts val="1200"/>
              </a:spcBef>
              <a:spcAft>
                <a:spcPts val="0"/>
              </a:spcAft>
              <a:buNone/>
            </a:pPr>
            <a:r>
              <a:t/>
            </a:r>
            <a:endParaRPr sz="1900"/>
          </a:p>
          <a:p>
            <a:pPr indent="0" lvl="0" marL="0" marR="0" rtl="0" algn="l">
              <a:lnSpc>
                <a:spcPct val="100000"/>
              </a:lnSpc>
              <a:spcBef>
                <a:spcPts val="1200"/>
              </a:spcBef>
              <a:spcAft>
                <a:spcPts val="0"/>
              </a:spcAft>
              <a:buNone/>
            </a:pPr>
            <a:r>
              <a:t/>
            </a:r>
            <a:endParaRPr b="0" i="0" sz="1400" u="none" cap="none" strike="noStrike">
              <a:solidFill>
                <a:srgbClr val="000000"/>
              </a:solidFill>
              <a:latin typeface="Verdana"/>
              <a:ea typeface="Verdana"/>
              <a:cs typeface="Verdana"/>
              <a:sym typeface="Verdana"/>
            </a:endParaRPr>
          </a:p>
        </p:txBody>
      </p:sp>
      <p:sp>
        <p:nvSpPr>
          <p:cNvPr id="69" name="Google Shape;69;g31a516b0401_3_10"/>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0eb2b6892c_0_395"/>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5" name="Google Shape;75;g30eb2b6892c_0_395"/>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Project Plan (Clearly mention milestone for objectives under each reviews)</a:t>
            </a:r>
            <a:endParaRPr b="0" i="0" sz="1400" u="none" cap="none" strike="noStrike">
              <a:solidFill>
                <a:srgbClr val="000000"/>
              </a:solidFill>
              <a:latin typeface="Arial"/>
              <a:ea typeface="Arial"/>
              <a:cs typeface="Arial"/>
              <a:sym typeface="Arial"/>
            </a:endParaRPr>
          </a:p>
        </p:txBody>
      </p:sp>
      <p:pic>
        <p:nvPicPr>
          <p:cNvPr id="76" name="Google Shape;76;g30eb2b6892c_0_395"/>
          <p:cNvPicPr preferRelativeResize="0"/>
          <p:nvPr/>
        </p:nvPicPr>
        <p:blipFill>
          <a:blip r:embed="rId3">
            <a:alphaModFix/>
          </a:blip>
          <a:stretch>
            <a:fillRect/>
          </a:stretch>
        </p:blipFill>
        <p:spPr>
          <a:xfrm>
            <a:off x="2576536" y="3501325"/>
            <a:ext cx="7038949" cy="2793875"/>
          </a:xfrm>
          <a:prstGeom prst="rect">
            <a:avLst/>
          </a:prstGeom>
          <a:noFill/>
          <a:ln>
            <a:noFill/>
          </a:ln>
        </p:spPr>
      </p:pic>
      <p:pic>
        <p:nvPicPr>
          <p:cNvPr id="77" name="Google Shape;77;g30eb2b6892c_0_395"/>
          <p:cNvPicPr preferRelativeResize="0"/>
          <p:nvPr/>
        </p:nvPicPr>
        <p:blipFill rotWithShape="1">
          <a:blip r:embed="rId4">
            <a:alphaModFix/>
          </a:blip>
          <a:srcRect b="0" l="0" r="0" t="5024"/>
          <a:stretch/>
        </p:blipFill>
        <p:spPr>
          <a:xfrm>
            <a:off x="167488" y="1288577"/>
            <a:ext cx="11857023" cy="206611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1ae5748121_0_431"/>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3" name="Google Shape;83;g31ae5748121_0_431"/>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Literature Survey</a:t>
            </a:r>
            <a:endParaRPr b="0" i="0" sz="1400" u="none" cap="none" strike="noStrike">
              <a:solidFill>
                <a:srgbClr val="000000"/>
              </a:solidFill>
              <a:latin typeface="Arial"/>
              <a:ea typeface="Arial"/>
              <a:cs typeface="Arial"/>
              <a:sym typeface="Arial"/>
            </a:endParaRPr>
          </a:p>
        </p:txBody>
      </p:sp>
      <p:sp>
        <p:nvSpPr>
          <p:cNvPr id="84" name="Google Shape;84;g31ae5748121_0_431"/>
          <p:cNvSpPr txBox="1"/>
          <p:nvPr/>
        </p:nvSpPr>
        <p:spPr>
          <a:xfrm>
            <a:off x="432621" y="741620"/>
            <a:ext cx="11326800" cy="5735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Verdana"/>
                <a:ea typeface="Verdana"/>
                <a:cs typeface="Verdana"/>
                <a:sym typeface="Verdana"/>
              </a:rPr>
              <a:t>Key Publications </a:t>
            </a:r>
            <a:endParaRPr b="1"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a:latin typeface="Verdana"/>
              <a:ea typeface="Verdana"/>
              <a:cs typeface="Verdana"/>
              <a:sym typeface="Verdana"/>
            </a:endParaRPr>
          </a:p>
          <a:p>
            <a:pPr indent="-298450" lvl="0" marL="457200" marR="0" rtl="0" algn="l">
              <a:lnSpc>
                <a:spcPct val="100000"/>
              </a:lnSpc>
              <a:spcBef>
                <a:spcPts val="0"/>
              </a:spcBef>
              <a:spcAft>
                <a:spcPts val="0"/>
              </a:spcAft>
              <a:buSzPts val="1100"/>
              <a:buChar char="•"/>
            </a:pPr>
            <a:r>
              <a:rPr lang="en-US" sz="1100"/>
              <a:t>Qi, Y., Yang, Z., Sun, W., Lou, M., Lian, J., Zhao, W., Deng, X., &amp; Ma, Y. (2022). </a:t>
            </a:r>
            <a:r>
              <a:rPr i="1" lang="en-US" sz="1100"/>
              <a:t>A comprehensive overview of image enhancement techniques</a:t>
            </a:r>
            <a:r>
              <a:rPr lang="en-US" sz="1100"/>
              <a:t>. </a:t>
            </a:r>
            <a:r>
              <a:rPr i="1" lang="en-US" sz="1100"/>
              <a:t>Archives of Computational Methods in Engineering, 29</a:t>
            </a:r>
            <a:r>
              <a:rPr lang="en-US" sz="1100"/>
              <a:t>, 583–607. </a:t>
            </a:r>
            <a:r>
              <a:rPr lang="en-US" sz="1100" u="sng">
                <a:solidFill>
                  <a:schemeClr val="hlink"/>
                </a:solidFill>
                <a:hlinkClick r:id="rId3"/>
              </a:rPr>
              <a:t>https://doi.org/10.1007/s11831-021-09587-6</a:t>
            </a:r>
            <a:endParaRPr>
              <a:latin typeface="Verdana"/>
              <a:ea typeface="Verdana"/>
              <a:cs typeface="Verdana"/>
              <a:sym typeface="Verdana"/>
            </a:endParaRPr>
          </a:p>
          <a:p>
            <a:pPr indent="0" lvl="0" marL="457200" marR="0" rtl="0" algn="l">
              <a:lnSpc>
                <a:spcPct val="100000"/>
              </a:lnSpc>
              <a:spcBef>
                <a:spcPts val="0"/>
              </a:spcBef>
              <a:spcAft>
                <a:spcPts val="0"/>
              </a:spcAft>
              <a:buNone/>
            </a:pPr>
            <a:r>
              <a:t/>
            </a:r>
            <a:endParaRPr>
              <a:latin typeface="Verdana"/>
              <a:ea typeface="Verdana"/>
              <a:cs typeface="Verdana"/>
              <a:sym typeface="Verdana"/>
            </a:endParaRPr>
          </a:p>
          <a:p>
            <a:pPr indent="-298450" lvl="0" marL="457200" marR="0" rtl="0" algn="l">
              <a:lnSpc>
                <a:spcPct val="100000"/>
              </a:lnSpc>
              <a:spcBef>
                <a:spcPts val="0"/>
              </a:spcBef>
              <a:spcAft>
                <a:spcPts val="0"/>
              </a:spcAft>
              <a:buSzPts val="1100"/>
              <a:buChar char="•"/>
            </a:pPr>
            <a:r>
              <a:rPr lang="en-US" sz="1100"/>
              <a:t>Raveendran, S., Patil, M. D., &amp; Birajdar, G. K. (2021). </a:t>
            </a:r>
            <a:r>
              <a:rPr i="1" lang="en-US" sz="1100"/>
              <a:t>Underwater image enhancement: A comprehensive review, recent trends, challenges and applications.</a:t>
            </a:r>
            <a:r>
              <a:rPr lang="en-US" sz="1100"/>
              <a:t> </a:t>
            </a:r>
            <a:r>
              <a:rPr i="1" lang="en-US" sz="1100"/>
              <a:t>Artificial Intelligence Review, 54</a:t>
            </a:r>
            <a:r>
              <a:rPr lang="en-US" sz="1100"/>
              <a:t>(7), 5413-5467. </a:t>
            </a:r>
            <a:r>
              <a:rPr lang="en-US" sz="1100" u="sng">
                <a:solidFill>
                  <a:schemeClr val="hlink"/>
                </a:solidFill>
                <a:hlinkClick r:id="rId4"/>
              </a:rPr>
              <a:t>https://doi.org/10.1007/s10462-021-10025-z</a:t>
            </a:r>
            <a:r>
              <a:rPr lang="en-US">
                <a:latin typeface="Verdana"/>
                <a:ea typeface="Verdana"/>
                <a:cs typeface="Verdana"/>
                <a:sym typeface="Verdana"/>
              </a:rPr>
              <a:t>.</a:t>
            </a:r>
            <a:endParaRPr>
              <a:latin typeface="Verdana"/>
              <a:ea typeface="Verdana"/>
              <a:cs typeface="Verdana"/>
              <a:sym typeface="Verdana"/>
            </a:endParaRPr>
          </a:p>
          <a:p>
            <a:pPr indent="0" lvl="0" marL="457200" marR="0" rtl="0" algn="l">
              <a:lnSpc>
                <a:spcPct val="100000"/>
              </a:lnSpc>
              <a:spcBef>
                <a:spcPts val="0"/>
              </a:spcBef>
              <a:spcAft>
                <a:spcPts val="0"/>
              </a:spcAft>
              <a:buNone/>
            </a:pPr>
            <a:r>
              <a:t/>
            </a:r>
            <a:endParaRPr sz="1100"/>
          </a:p>
          <a:p>
            <a:pPr indent="-298450" lvl="0" marL="457200" marR="0" rtl="0" algn="l">
              <a:lnSpc>
                <a:spcPct val="100000"/>
              </a:lnSpc>
              <a:spcBef>
                <a:spcPts val="0"/>
              </a:spcBef>
              <a:spcAft>
                <a:spcPts val="0"/>
              </a:spcAft>
              <a:buSzPts val="1100"/>
              <a:buChar char="•"/>
            </a:pPr>
            <a:r>
              <a:rPr lang="en-US" sz="1100"/>
              <a:t>Singh, N., &amp; Bhat, A. (2023). </a:t>
            </a:r>
            <a:r>
              <a:rPr i="1" lang="en-US" sz="1100"/>
              <a:t>A systematic review of the methodologies for the processing and enhancement of the underwater images</a:t>
            </a:r>
            <a:r>
              <a:rPr lang="en-US" sz="1100"/>
              <a:t>. </a:t>
            </a:r>
            <a:r>
              <a:rPr i="1" lang="en-US" sz="1100"/>
              <a:t>Multimedia Tools and Applications, 82</a:t>
            </a:r>
            <a:r>
              <a:rPr lang="en-US" sz="1100"/>
              <a:t>, 38371-38396. </a:t>
            </a:r>
            <a:r>
              <a:rPr lang="en-US" sz="1100" u="sng">
                <a:solidFill>
                  <a:schemeClr val="hlink"/>
                </a:solidFill>
                <a:hlinkClick r:id="rId5"/>
              </a:rPr>
              <a:t>https://doi.org/10.1007/s11042-023-15156-9</a:t>
            </a:r>
            <a:endParaRPr sz="1100"/>
          </a:p>
          <a:p>
            <a:pPr indent="0" lvl="0" marL="457200" marR="0" rtl="0" algn="l">
              <a:lnSpc>
                <a:spcPct val="100000"/>
              </a:lnSpc>
              <a:spcBef>
                <a:spcPts val="0"/>
              </a:spcBef>
              <a:spcAft>
                <a:spcPts val="0"/>
              </a:spcAft>
              <a:buNone/>
            </a:pPr>
            <a:r>
              <a:t/>
            </a:r>
            <a:endParaRPr>
              <a:latin typeface="Verdana"/>
              <a:ea typeface="Verdana"/>
              <a:cs typeface="Verdana"/>
              <a:sym typeface="Verdana"/>
            </a:endParaRPr>
          </a:p>
          <a:p>
            <a:pPr indent="-298450" lvl="0" marL="457200" marR="0" rtl="0" algn="l">
              <a:lnSpc>
                <a:spcPct val="100000"/>
              </a:lnSpc>
              <a:spcBef>
                <a:spcPts val="0"/>
              </a:spcBef>
              <a:spcAft>
                <a:spcPts val="0"/>
              </a:spcAft>
              <a:buSzPts val="1100"/>
              <a:buChar char="•"/>
            </a:pPr>
            <a:r>
              <a:rPr lang="en-US" sz="1100"/>
              <a:t>Verma, G. (2022). Systematic review and analysis on underwater image enhancement methods, datasets, and evaluation metrics. </a:t>
            </a:r>
            <a:r>
              <a:rPr i="1" lang="en-US" sz="1100"/>
              <a:t>Journal of Electronic Imaging, 31</a:t>
            </a:r>
            <a:r>
              <a:rPr lang="en-US" sz="1100"/>
              <a:t>(6), 060901. </a:t>
            </a:r>
            <a:r>
              <a:rPr lang="en-US" sz="1100" u="sng">
                <a:solidFill>
                  <a:schemeClr val="hlink"/>
                </a:solidFill>
                <a:hlinkClick r:id="rId6"/>
              </a:rPr>
              <a:t>https://doi.org/10.1117/1.JEI.31.6.060901</a:t>
            </a:r>
            <a:r>
              <a:rPr lang="en-US" sz="1100"/>
              <a:t>.</a:t>
            </a:r>
            <a:endParaRPr sz="1100"/>
          </a:p>
          <a:p>
            <a:pPr indent="0" lvl="0" marL="457200" marR="0" rtl="0" algn="l">
              <a:lnSpc>
                <a:spcPct val="100000"/>
              </a:lnSpc>
              <a:spcBef>
                <a:spcPts val="0"/>
              </a:spcBef>
              <a:spcAft>
                <a:spcPts val="0"/>
              </a:spcAft>
              <a:buNone/>
            </a:pPr>
            <a:r>
              <a:t/>
            </a:r>
            <a:endParaRPr sz="1100"/>
          </a:p>
          <a:p>
            <a:pPr indent="-298450" lvl="0" marL="457200" marR="0" rtl="0" algn="l">
              <a:lnSpc>
                <a:spcPct val="100000"/>
              </a:lnSpc>
              <a:spcBef>
                <a:spcPts val="0"/>
              </a:spcBef>
              <a:spcAft>
                <a:spcPts val="0"/>
              </a:spcAft>
              <a:buSzPts val="1100"/>
              <a:buChar char="•"/>
            </a:pPr>
            <a:r>
              <a:rPr lang="en-US" sz="1100"/>
              <a:t>Almutiry, O., Iqbal, K., Hussain, S., Mahmood, A., &amp; Dhahri, H. (2021). </a:t>
            </a:r>
            <a:r>
              <a:rPr i="1" lang="en-US" sz="1100"/>
              <a:t>Underwater images contrast enhancement and its challenges: A survey.</a:t>
            </a:r>
            <a:r>
              <a:rPr lang="en-US" sz="1100"/>
              <a:t> </a:t>
            </a:r>
            <a:r>
              <a:rPr i="1" lang="en-US" sz="1100"/>
              <a:t>Multimedia Tools and Applications.</a:t>
            </a:r>
            <a:r>
              <a:rPr lang="en-US" sz="1100"/>
              <a:t> </a:t>
            </a:r>
            <a:r>
              <a:rPr lang="en-US" sz="1100" u="sng">
                <a:solidFill>
                  <a:schemeClr val="hlink"/>
                </a:solidFill>
                <a:hlinkClick r:id="rId7"/>
              </a:rPr>
              <a:t>https://doi.org/10.1007/s11042-021-10626-4</a:t>
            </a:r>
            <a:endParaRPr sz="1100"/>
          </a:p>
          <a:p>
            <a:pPr indent="0" lvl="0" marL="0" marR="0" rtl="0" algn="l">
              <a:lnSpc>
                <a:spcPct val="100000"/>
              </a:lnSpc>
              <a:spcBef>
                <a:spcPts val="0"/>
              </a:spcBef>
              <a:spcAft>
                <a:spcPts val="0"/>
              </a:spcAft>
              <a:buClr>
                <a:srgbClr val="000000"/>
              </a:buClr>
              <a:buSzPts val="1400"/>
              <a:buFont typeface="Arial"/>
              <a:buNone/>
            </a:pPr>
            <a:r>
              <a:t/>
            </a:r>
            <a:endParaRPr>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Verdana"/>
                <a:ea typeface="Verdana"/>
                <a:cs typeface="Verdana"/>
                <a:sym typeface="Verdana"/>
              </a:rPr>
              <a:t>Key Resources – Whitepaper| Application Notes |  Datasheet| Others</a:t>
            </a:r>
            <a:endParaRPr/>
          </a:p>
          <a:p>
            <a:pPr indent="-285750" lvl="0" marL="285750" marR="0" rtl="0" algn="l">
              <a:lnSpc>
                <a:spcPct val="100000"/>
              </a:lnSpc>
              <a:spcBef>
                <a:spcPts val="0"/>
              </a:spcBef>
              <a:spcAft>
                <a:spcPts val="0"/>
              </a:spcAft>
              <a:buClr>
                <a:srgbClr val="000000"/>
              </a:buClr>
              <a:buSzPts val="1400"/>
              <a:buFont typeface="Arial"/>
              <a:buChar char="•"/>
            </a:pPr>
            <a:r>
              <a:rPr lang="en-US" u="sng">
                <a:solidFill>
                  <a:schemeClr val="hlink"/>
                </a:solidFill>
                <a:latin typeface="Verdana"/>
                <a:ea typeface="Verdana"/>
                <a:cs typeface="Verdana"/>
                <a:sym typeface="Verdana"/>
                <a:hlinkClick r:id="rId8"/>
              </a:rPr>
              <a:t>A Novel Fast Single Image Dehazing Algorithm Based on Artificial Multiexposure Image Fusion</a:t>
            </a:r>
            <a:endParaRPr>
              <a:latin typeface="Verdana"/>
              <a:ea typeface="Verdana"/>
              <a:cs typeface="Verdana"/>
              <a:sym typeface="Verdana"/>
            </a:endParaRPr>
          </a:p>
          <a:p>
            <a:pPr indent="-285750" lvl="0" marL="285750" marR="0" rtl="0" algn="l">
              <a:lnSpc>
                <a:spcPct val="100000"/>
              </a:lnSpc>
              <a:spcBef>
                <a:spcPts val="0"/>
              </a:spcBef>
              <a:spcAft>
                <a:spcPts val="0"/>
              </a:spcAft>
              <a:buClr>
                <a:srgbClr val="000000"/>
              </a:buClr>
              <a:buSzPts val="1400"/>
              <a:buFont typeface="Arial"/>
              <a:buChar char="•"/>
            </a:pPr>
            <a:r>
              <a:rPr lang="en-US" u="sng">
                <a:solidFill>
                  <a:schemeClr val="hlink"/>
                </a:solidFill>
                <a:latin typeface="Verdana"/>
                <a:ea typeface="Verdana"/>
                <a:cs typeface="Verdana"/>
                <a:sym typeface="Verdana"/>
                <a:hlinkClick r:id="rId9"/>
              </a:rPr>
              <a:t>A Low Power and Low Complexity Automatic White Balance Algorithm for AMOLED Driving Using Histogram Matching</a:t>
            </a:r>
            <a:endParaRPr/>
          </a:p>
          <a:p>
            <a:pPr indent="-285750" lvl="0" marL="285750" marR="0" rtl="0" algn="l">
              <a:lnSpc>
                <a:spcPct val="100000"/>
              </a:lnSpc>
              <a:spcBef>
                <a:spcPts val="0"/>
              </a:spcBef>
              <a:spcAft>
                <a:spcPts val="0"/>
              </a:spcAft>
              <a:buClr>
                <a:srgbClr val="000000"/>
              </a:buClr>
              <a:buSzPts val="1400"/>
              <a:buFont typeface="Arial"/>
              <a:buChar char="•"/>
            </a:pPr>
            <a:r>
              <a:rPr lang="en-US" u="sng">
                <a:solidFill>
                  <a:schemeClr val="hlink"/>
                </a:solidFill>
                <a:latin typeface="Verdana"/>
                <a:ea typeface="Verdana"/>
                <a:cs typeface="Verdana"/>
                <a:sym typeface="Verdana"/>
                <a:hlinkClick r:id="rId10"/>
              </a:rPr>
              <a:t>Low Contrast Enhancement Algorithm for Color Image Using Pythagorean Fuzzy Sets With a Fusion of CLAHE and BPDHE Methods</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Verdana"/>
                <a:ea typeface="Verdana"/>
                <a:cs typeface="Verdana"/>
                <a:sym typeface="Verdana"/>
              </a:rPr>
              <a:t>Existing Implementations – Products| Opensource| GitHub etc </a:t>
            </a:r>
            <a:endParaRPr/>
          </a:p>
          <a:p>
            <a:pPr indent="-285750" lvl="0" marL="285750" marR="0" rtl="0" algn="l">
              <a:lnSpc>
                <a:spcPct val="100000"/>
              </a:lnSpc>
              <a:spcBef>
                <a:spcPts val="0"/>
              </a:spcBef>
              <a:spcAft>
                <a:spcPts val="0"/>
              </a:spcAft>
              <a:buClr>
                <a:srgbClr val="000000"/>
              </a:buClr>
              <a:buSzPts val="1400"/>
              <a:buFont typeface="Arial"/>
              <a:buChar char="•"/>
            </a:pPr>
            <a:r>
              <a:rPr lang="en-US" u="sng">
                <a:solidFill>
                  <a:schemeClr val="hlink"/>
                </a:solidFill>
                <a:latin typeface="Verdana"/>
                <a:ea typeface="Verdana"/>
                <a:cs typeface="Verdana"/>
                <a:sym typeface="Verdana"/>
                <a:hlinkClick r:id="rId11"/>
              </a:rPr>
              <a:t>Dual-Scale Single Image Dehazing via Neural Augmentation</a:t>
            </a:r>
            <a:endParaRPr/>
          </a:p>
          <a:p>
            <a:pPr indent="-285750" lvl="0" marL="285750" marR="0" rtl="0" algn="l">
              <a:lnSpc>
                <a:spcPct val="100000"/>
              </a:lnSpc>
              <a:spcBef>
                <a:spcPts val="0"/>
              </a:spcBef>
              <a:spcAft>
                <a:spcPts val="0"/>
              </a:spcAft>
              <a:buSzPts val="1400"/>
              <a:buChar char="•"/>
            </a:pPr>
            <a:r>
              <a:rPr lang="en-US" u="sng">
                <a:solidFill>
                  <a:schemeClr val="hlink"/>
                </a:solidFill>
                <a:hlinkClick r:id="rId12"/>
              </a:rPr>
              <a:t>Automatic white balance for digital still camera</a:t>
            </a:r>
            <a:endParaRPr/>
          </a:p>
          <a:p>
            <a:pPr indent="-285750" lvl="0" marL="285750" marR="0" rtl="0" algn="l">
              <a:lnSpc>
                <a:spcPct val="100000"/>
              </a:lnSpc>
              <a:spcBef>
                <a:spcPts val="0"/>
              </a:spcBef>
              <a:spcAft>
                <a:spcPts val="0"/>
              </a:spcAft>
              <a:buClr>
                <a:srgbClr val="000000"/>
              </a:buClr>
              <a:buSzPts val="1400"/>
              <a:buFont typeface="Arial"/>
              <a:buChar char="•"/>
            </a:pPr>
            <a:r>
              <a:rPr lang="en-US" u="sng">
                <a:solidFill>
                  <a:schemeClr val="hlink"/>
                </a:solidFill>
                <a:latin typeface="Verdana"/>
                <a:ea typeface="Verdana"/>
                <a:cs typeface="Verdana"/>
                <a:sym typeface="Verdana"/>
                <a:hlinkClick r:id="rId13"/>
              </a:rPr>
              <a:t>Research on Histogram Equalization Algorithm Based on Optimized Adaptive Quadruple Segmentation and Cropping of Underwater Image (AQSCHE)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Verdana"/>
                <a:ea typeface="Verdana"/>
                <a:cs typeface="Verdana"/>
                <a:sym typeface="Verdana"/>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0ef4e68118_0_40"/>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0" name="Google Shape;90;g30ef4e68118_0_40"/>
          <p:cNvSpPr txBox="1"/>
          <p:nvPr/>
        </p:nvSpPr>
        <p:spPr>
          <a:xfrm>
            <a:off x="550874" y="381000"/>
            <a:ext cx="10515600" cy="49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lang="en-US" sz="2400">
                <a:latin typeface="Montserrat"/>
                <a:ea typeface="Montserrat"/>
                <a:cs typeface="Montserrat"/>
                <a:sym typeface="Montserrat"/>
              </a:rPr>
              <a:t>                                            </a:t>
            </a:r>
            <a:r>
              <a:rPr b="1" i="0" lang="en-US" sz="2400" u="none" cap="none" strike="noStrike">
                <a:solidFill>
                  <a:srgbClr val="000000"/>
                </a:solidFill>
                <a:latin typeface="Montserrat"/>
                <a:ea typeface="Montserrat"/>
                <a:cs typeface="Montserrat"/>
                <a:sym typeface="Montserrat"/>
              </a:rPr>
              <a:t>Architecture  </a:t>
            </a:r>
            <a:endParaRPr b="0" i="0" sz="1400" u="none" cap="none" strike="noStrike">
              <a:solidFill>
                <a:srgbClr val="000000"/>
              </a:solidFill>
              <a:latin typeface="Arial"/>
              <a:ea typeface="Arial"/>
              <a:cs typeface="Arial"/>
              <a:sym typeface="Arial"/>
            </a:endParaRPr>
          </a:p>
        </p:txBody>
      </p:sp>
      <p:sp>
        <p:nvSpPr>
          <p:cNvPr id="91" name="Google Shape;91;g30ef4e68118_0_40"/>
          <p:cNvSpPr txBox="1"/>
          <p:nvPr/>
        </p:nvSpPr>
        <p:spPr>
          <a:xfrm>
            <a:off x="-139200" y="1841975"/>
            <a:ext cx="4856700" cy="539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latin typeface="Verdana"/>
                <a:ea typeface="Verdana"/>
                <a:cs typeface="Verdana"/>
                <a:sym typeface="Verdana"/>
              </a:rPr>
              <a:t>                                         </a:t>
            </a:r>
            <a:r>
              <a:rPr b="1" i="0" lang="en-US" sz="1400" u="none" cap="none" strike="noStrike">
                <a:solidFill>
                  <a:srgbClr val="000000"/>
                </a:solidFill>
                <a:latin typeface="Verdana"/>
                <a:ea typeface="Verdana"/>
                <a:cs typeface="Verdana"/>
                <a:sym typeface="Verdana"/>
              </a:rPr>
              <a:t>Structural Diagram</a:t>
            </a:r>
            <a:endParaRPr/>
          </a:p>
          <a:p>
            <a:pPr indent="0" lvl="0" marL="0" marR="0" rtl="0" algn="l">
              <a:lnSpc>
                <a:spcPct val="100000"/>
              </a:lnSpc>
              <a:spcBef>
                <a:spcPts val="0"/>
              </a:spcBef>
              <a:spcAft>
                <a:spcPts val="0"/>
              </a:spcAft>
              <a:buClr>
                <a:srgbClr val="000000"/>
              </a:buClr>
              <a:buSzPts val="1200"/>
              <a:buFont typeface="Arial"/>
              <a:buNone/>
            </a:pPr>
            <a:r>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p:txBody>
      </p:sp>
      <p:sp>
        <p:nvSpPr>
          <p:cNvPr id="92" name="Google Shape;92;g30ef4e68118_0_40"/>
          <p:cNvSpPr txBox="1"/>
          <p:nvPr/>
        </p:nvSpPr>
        <p:spPr>
          <a:xfrm>
            <a:off x="6325238" y="625489"/>
            <a:ext cx="5761800" cy="5735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latin typeface="Verdana"/>
                <a:ea typeface="Verdana"/>
                <a:cs typeface="Verdana"/>
                <a:sym typeface="Verdana"/>
              </a:rPr>
              <a:t>                                 </a:t>
            </a:r>
            <a:r>
              <a:rPr b="1" i="0" lang="en-US" sz="1400" u="none" cap="none" strike="noStrike">
                <a:solidFill>
                  <a:srgbClr val="000000"/>
                </a:solidFill>
                <a:latin typeface="Verdana"/>
                <a:ea typeface="Verdana"/>
                <a:cs typeface="Verdana"/>
                <a:sym typeface="Verdana"/>
              </a:rPr>
              <a:t>Behaviour Diagram</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p:txBody>
      </p:sp>
      <p:pic>
        <p:nvPicPr>
          <p:cNvPr id="93" name="Google Shape;93;g30ef4e68118_0_40" title="Blank diagram (3).png"/>
          <p:cNvPicPr preferRelativeResize="0"/>
          <p:nvPr/>
        </p:nvPicPr>
        <p:blipFill>
          <a:blip r:embed="rId3">
            <a:alphaModFix/>
          </a:blip>
          <a:stretch>
            <a:fillRect/>
          </a:stretch>
        </p:blipFill>
        <p:spPr>
          <a:xfrm>
            <a:off x="8123050" y="685775"/>
            <a:ext cx="2557400" cy="6090575"/>
          </a:xfrm>
          <a:prstGeom prst="rect">
            <a:avLst/>
          </a:prstGeom>
          <a:noFill/>
          <a:ln>
            <a:noFill/>
          </a:ln>
        </p:spPr>
      </p:pic>
      <p:pic>
        <p:nvPicPr>
          <p:cNvPr id="94" name="Google Shape;94;g30ef4e68118_0_40" title="Blank diagram (4).png"/>
          <p:cNvPicPr preferRelativeResize="0"/>
          <p:nvPr/>
        </p:nvPicPr>
        <p:blipFill>
          <a:blip r:embed="rId4">
            <a:alphaModFix/>
          </a:blip>
          <a:stretch>
            <a:fillRect/>
          </a:stretch>
        </p:blipFill>
        <p:spPr>
          <a:xfrm>
            <a:off x="391475" y="1989150"/>
            <a:ext cx="7731574" cy="1905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0" name="Google Shape;100;p3"/>
          <p:cNvSpPr txBox="1"/>
          <p:nvPr/>
        </p:nvSpPr>
        <p:spPr>
          <a:xfrm>
            <a:off x="1055699" y="0"/>
            <a:ext cx="10515600" cy="49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Use Cases &amp; Testing</a:t>
            </a:r>
            <a:endParaRPr b="0" i="0" sz="1400" u="none" cap="none" strike="noStrike">
              <a:solidFill>
                <a:srgbClr val="000000"/>
              </a:solidFill>
              <a:latin typeface="Arial"/>
              <a:ea typeface="Arial"/>
              <a:cs typeface="Arial"/>
              <a:sym typeface="Arial"/>
            </a:endParaRPr>
          </a:p>
        </p:txBody>
      </p:sp>
      <p:sp>
        <p:nvSpPr>
          <p:cNvPr id="101" name="Google Shape;101;p3"/>
          <p:cNvSpPr txBox="1"/>
          <p:nvPr/>
        </p:nvSpPr>
        <p:spPr>
          <a:xfrm>
            <a:off x="6213988" y="726114"/>
            <a:ext cx="5761800" cy="5735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pic>
        <p:nvPicPr>
          <p:cNvPr id="102" name="Google Shape;102;p3"/>
          <p:cNvPicPr preferRelativeResize="0"/>
          <p:nvPr/>
        </p:nvPicPr>
        <p:blipFill>
          <a:blip r:embed="rId3">
            <a:alphaModFix/>
          </a:blip>
          <a:stretch>
            <a:fillRect/>
          </a:stretch>
        </p:blipFill>
        <p:spPr>
          <a:xfrm>
            <a:off x="159675" y="1182772"/>
            <a:ext cx="2831400" cy="2123540"/>
          </a:xfrm>
          <a:prstGeom prst="rect">
            <a:avLst/>
          </a:prstGeom>
          <a:noFill/>
          <a:ln>
            <a:noFill/>
          </a:ln>
        </p:spPr>
      </p:pic>
      <p:pic>
        <p:nvPicPr>
          <p:cNvPr id="103" name="Google Shape;103;p3"/>
          <p:cNvPicPr preferRelativeResize="0"/>
          <p:nvPr/>
        </p:nvPicPr>
        <p:blipFill>
          <a:blip r:embed="rId4">
            <a:alphaModFix/>
          </a:blip>
          <a:stretch>
            <a:fillRect/>
          </a:stretch>
        </p:blipFill>
        <p:spPr>
          <a:xfrm>
            <a:off x="3284550" y="3762975"/>
            <a:ext cx="2743200" cy="2057410"/>
          </a:xfrm>
          <a:prstGeom prst="rect">
            <a:avLst/>
          </a:prstGeom>
          <a:noFill/>
          <a:ln>
            <a:noFill/>
          </a:ln>
        </p:spPr>
      </p:pic>
      <p:pic>
        <p:nvPicPr>
          <p:cNvPr id="104" name="Google Shape;104;p3"/>
          <p:cNvPicPr preferRelativeResize="0"/>
          <p:nvPr/>
        </p:nvPicPr>
        <p:blipFill>
          <a:blip r:embed="rId5">
            <a:alphaModFix/>
          </a:blip>
          <a:stretch>
            <a:fillRect/>
          </a:stretch>
        </p:blipFill>
        <p:spPr>
          <a:xfrm>
            <a:off x="6213975" y="1215825"/>
            <a:ext cx="2743200" cy="2057424"/>
          </a:xfrm>
          <a:prstGeom prst="rect">
            <a:avLst/>
          </a:prstGeom>
          <a:noFill/>
          <a:ln>
            <a:noFill/>
          </a:ln>
        </p:spPr>
      </p:pic>
      <p:pic>
        <p:nvPicPr>
          <p:cNvPr id="105" name="Google Shape;105;p3" title="usod_test143_enhanced.jpg"/>
          <p:cNvPicPr preferRelativeResize="0"/>
          <p:nvPr/>
        </p:nvPicPr>
        <p:blipFill>
          <a:blip r:embed="rId6">
            <a:alphaModFix/>
          </a:blip>
          <a:stretch>
            <a:fillRect/>
          </a:stretch>
        </p:blipFill>
        <p:spPr>
          <a:xfrm>
            <a:off x="3186837" y="1182775"/>
            <a:ext cx="2831400" cy="2123550"/>
          </a:xfrm>
          <a:prstGeom prst="rect">
            <a:avLst/>
          </a:prstGeom>
          <a:noFill/>
          <a:ln>
            <a:noFill/>
          </a:ln>
        </p:spPr>
      </p:pic>
      <p:pic>
        <p:nvPicPr>
          <p:cNvPr id="106" name="Google Shape;106;p3" title="usod_test26_enhanced.jpg"/>
          <p:cNvPicPr preferRelativeResize="0"/>
          <p:nvPr/>
        </p:nvPicPr>
        <p:blipFill>
          <a:blip r:embed="rId7">
            <a:alphaModFix/>
          </a:blip>
          <a:stretch>
            <a:fillRect/>
          </a:stretch>
        </p:blipFill>
        <p:spPr>
          <a:xfrm>
            <a:off x="6433450" y="3762962"/>
            <a:ext cx="2743200" cy="2057434"/>
          </a:xfrm>
          <a:prstGeom prst="rect">
            <a:avLst/>
          </a:prstGeom>
          <a:noFill/>
          <a:ln>
            <a:noFill/>
          </a:ln>
        </p:spPr>
      </p:pic>
      <p:pic>
        <p:nvPicPr>
          <p:cNvPr id="107" name="Google Shape;107;p3" title="usod_test81_enhanced.jpg"/>
          <p:cNvPicPr preferRelativeResize="0"/>
          <p:nvPr/>
        </p:nvPicPr>
        <p:blipFill>
          <a:blip r:embed="rId8">
            <a:alphaModFix/>
          </a:blip>
          <a:stretch>
            <a:fillRect/>
          </a:stretch>
        </p:blipFill>
        <p:spPr>
          <a:xfrm>
            <a:off x="9152925" y="1215837"/>
            <a:ext cx="2743200" cy="2057406"/>
          </a:xfrm>
          <a:prstGeom prst="rect">
            <a:avLst/>
          </a:prstGeom>
          <a:noFill/>
          <a:ln>
            <a:noFill/>
          </a:ln>
        </p:spPr>
      </p:pic>
      <p:sp>
        <p:nvSpPr>
          <p:cNvPr id="108" name="Google Shape;108;p3"/>
          <p:cNvSpPr txBox="1"/>
          <p:nvPr/>
        </p:nvSpPr>
        <p:spPr>
          <a:xfrm>
            <a:off x="462650" y="3381375"/>
            <a:ext cx="54429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Times New Roman"/>
                <a:ea typeface="Times New Roman"/>
                <a:cs typeface="Times New Roman"/>
                <a:sym typeface="Times New Roman"/>
              </a:rPr>
              <a:t>ORIGINAL IMAGE                              ENHANCED IMAGE</a:t>
            </a:r>
            <a:endParaRPr b="1">
              <a:latin typeface="Times New Roman"/>
              <a:ea typeface="Times New Roman"/>
              <a:cs typeface="Times New Roman"/>
              <a:sym typeface="Times New Roman"/>
            </a:endParaRPr>
          </a:p>
        </p:txBody>
      </p:sp>
      <p:sp>
        <p:nvSpPr>
          <p:cNvPr id="109" name="Google Shape;109;p3"/>
          <p:cNvSpPr txBox="1"/>
          <p:nvPr/>
        </p:nvSpPr>
        <p:spPr>
          <a:xfrm>
            <a:off x="6611575" y="3301350"/>
            <a:ext cx="54429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Times New Roman"/>
                <a:ea typeface="Times New Roman"/>
                <a:cs typeface="Times New Roman"/>
                <a:sym typeface="Times New Roman"/>
              </a:rPr>
              <a:t>ORIGINAL IMAGE                              ENHANCED IMAGE</a:t>
            </a:r>
            <a:endParaRPr b="1">
              <a:latin typeface="Times New Roman"/>
              <a:ea typeface="Times New Roman"/>
              <a:cs typeface="Times New Roman"/>
              <a:sym typeface="Times New Roman"/>
            </a:endParaRPr>
          </a:p>
        </p:txBody>
      </p:sp>
      <p:sp>
        <p:nvSpPr>
          <p:cNvPr id="110" name="Google Shape;110;p3"/>
          <p:cNvSpPr txBox="1"/>
          <p:nvPr/>
        </p:nvSpPr>
        <p:spPr>
          <a:xfrm>
            <a:off x="3592050" y="5820375"/>
            <a:ext cx="54429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Times New Roman"/>
                <a:ea typeface="Times New Roman"/>
                <a:cs typeface="Times New Roman"/>
                <a:sym typeface="Times New Roman"/>
              </a:rPr>
              <a:t>ORIGINAL IMAGE                              ENHANCED IMAGE</a:t>
            </a:r>
            <a:endParaRPr b="1">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1ae5748121_0_4"/>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6" name="Google Shape;116;g31ae5748121_0_4"/>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Implementation and Results – Iteration 1 </a:t>
            </a:r>
            <a:endParaRPr b="0" i="0" sz="1400" u="none" cap="none" strike="noStrike">
              <a:solidFill>
                <a:srgbClr val="000000"/>
              </a:solidFill>
              <a:latin typeface="Arial"/>
              <a:ea typeface="Arial"/>
              <a:cs typeface="Arial"/>
              <a:sym typeface="Arial"/>
            </a:endParaRPr>
          </a:p>
        </p:txBody>
      </p:sp>
      <p:sp>
        <p:nvSpPr>
          <p:cNvPr id="117" name="Google Shape;117;g31ae5748121_0_4"/>
          <p:cNvSpPr txBox="1"/>
          <p:nvPr/>
        </p:nvSpPr>
        <p:spPr>
          <a:xfrm>
            <a:off x="452283" y="871532"/>
            <a:ext cx="11326761" cy="57357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Verdana"/>
              <a:ea typeface="Verdana"/>
              <a:cs typeface="Verdana"/>
              <a:sym typeface="Verdana"/>
            </a:endParaRPr>
          </a:p>
        </p:txBody>
      </p:sp>
      <p:pic>
        <p:nvPicPr>
          <p:cNvPr id="118" name="Google Shape;118;g31ae5748121_0_4" title="usod_test2_enhanced.jpg"/>
          <p:cNvPicPr preferRelativeResize="0"/>
          <p:nvPr/>
        </p:nvPicPr>
        <p:blipFill>
          <a:blip r:embed="rId3">
            <a:alphaModFix/>
          </a:blip>
          <a:stretch>
            <a:fillRect/>
          </a:stretch>
        </p:blipFill>
        <p:spPr>
          <a:xfrm>
            <a:off x="6372687" y="4044125"/>
            <a:ext cx="2823026" cy="2117275"/>
          </a:xfrm>
          <a:prstGeom prst="rect">
            <a:avLst/>
          </a:prstGeom>
          <a:noFill/>
          <a:ln>
            <a:noFill/>
          </a:ln>
        </p:spPr>
      </p:pic>
      <p:pic>
        <p:nvPicPr>
          <p:cNvPr id="119" name="Google Shape;119;g31ae5748121_0_4" title="usod_test6_enhanced.jpg"/>
          <p:cNvPicPr preferRelativeResize="0"/>
          <p:nvPr/>
        </p:nvPicPr>
        <p:blipFill>
          <a:blip r:embed="rId4">
            <a:alphaModFix/>
          </a:blip>
          <a:stretch>
            <a:fillRect/>
          </a:stretch>
        </p:blipFill>
        <p:spPr>
          <a:xfrm>
            <a:off x="9195700" y="1294145"/>
            <a:ext cx="2909325" cy="2181955"/>
          </a:xfrm>
          <a:prstGeom prst="rect">
            <a:avLst/>
          </a:prstGeom>
          <a:noFill/>
          <a:ln>
            <a:noFill/>
          </a:ln>
        </p:spPr>
      </p:pic>
      <p:pic>
        <p:nvPicPr>
          <p:cNvPr id="120" name="Google Shape;120;g31ae5748121_0_4" title="usod_test32_enhanced.jpg"/>
          <p:cNvPicPr preferRelativeResize="0"/>
          <p:nvPr/>
        </p:nvPicPr>
        <p:blipFill>
          <a:blip r:embed="rId5">
            <a:alphaModFix/>
          </a:blip>
          <a:stretch>
            <a:fillRect/>
          </a:stretch>
        </p:blipFill>
        <p:spPr>
          <a:xfrm>
            <a:off x="3157775" y="1294125"/>
            <a:ext cx="2977850" cy="2233368"/>
          </a:xfrm>
          <a:prstGeom prst="rect">
            <a:avLst/>
          </a:prstGeom>
          <a:noFill/>
          <a:ln>
            <a:noFill/>
          </a:ln>
        </p:spPr>
      </p:pic>
      <p:pic>
        <p:nvPicPr>
          <p:cNvPr id="121" name="Google Shape;121;g31ae5748121_0_4"/>
          <p:cNvPicPr preferRelativeResize="0"/>
          <p:nvPr/>
        </p:nvPicPr>
        <p:blipFill>
          <a:blip r:embed="rId6">
            <a:alphaModFix/>
          </a:blip>
          <a:stretch>
            <a:fillRect/>
          </a:stretch>
        </p:blipFill>
        <p:spPr>
          <a:xfrm>
            <a:off x="68500" y="1268438"/>
            <a:ext cx="2977850" cy="2233375"/>
          </a:xfrm>
          <a:prstGeom prst="rect">
            <a:avLst/>
          </a:prstGeom>
          <a:noFill/>
          <a:ln>
            <a:noFill/>
          </a:ln>
        </p:spPr>
      </p:pic>
      <p:pic>
        <p:nvPicPr>
          <p:cNvPr id="122" name="Google Shape;122;g31ae5748121_0_4"/>
          <p:cNvPicPr preferRelativeResize="0"/>
          <p:nvPr/>
        </p:nvPicPr>
        <p:blipFill>
          <a:blip r:embed="rId7">
            <a:alphaModFix/>
          </a:blip>
          <a:stretch>
            <a:fillRect/>
          </a:stretch>
        </p:blipFill>
        <p:spPr>
          <a:xfrm>
            <a:off x="6247050" y="1323350"/>
            <a:ext cx="2831400" cy="2123550"/>
          </a:xfrm>
          <a:prstGeom prst="rect">
            <a:avLst/>
          </a:prstGeom>
          <a:noFill/>
          <a:ln>
            <a:noFill/>
          </a:ln>
        </p:spPr>
      </p:pic>
      <p:pic>
        <p:nvPicPr>
          <p:cNvPr id="123" name="Google Shape;123;g31ae5748121_0_4"/>
          <p:cNvPicPr preferRelativeResize="0"/>
          <p:nvPr/>
        </p:nvPicPr>
        <p:blipFill>
          <a:blip r:embed="rId8">
            <a:alphaModFix/>
          </a:blip>
          <a:stretch>
            <a:fillRect/>
          </a:stretch>
        </p:blipFill>
        <p:spPr>
          <a:xfrm>
            <a:off x="3376688" y="4044093"/>
            <a:ext cx="2831400" cy="2123544"/>
          </a:xfrm>
          <a:prstGeom prst="rect">
            <a:avLst/>
          </a:prstGeom>
          <a:noFill/>
          <a:ln>
            <a:noFill/>
          </a:ln>
        </p:spPr>
      </p:pic>
      <p:sp>
        <p:nvSpPr>
          <p:cNvPr id="124" name="Google Shape;124;g31ae5748121_0_4"/>
          <p:cNvSpPr txBox="1"/>
          <p:nvPr/>
        </p:nvSpPr>
        <p:spPr>
          <a:xfrm>
            <a:off x="804150" y="3501800"/>
            <a:ext cx="54429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Times New Roman"/>
                <a:ea typeface="Times New Roman"/>
                <a:cs typeface="Times New Roman"/>
                <a:sym typeface="Times New Roman"/>
              </a:rPr>
              <a:t>ORIGINAL IMAGE                              ENHANCED IMAGE</a:t>
            </a:r>
            <a:endParaRPr b="1">
              <a:latin typeface="Times New Roman"/>
              <a:ea typeface="Times New Roman"/>
              <a:cs typeface="Times New Roman"/>
              <a:sym typeface="Times New Roman"/>
            </a:endParaRPr>
          </a:p>
        </p:txBody>
      </p:sp>
      <p:sp>
        <p:nvSpPr>
          <p:cNvPr id="125" name="Google Shape;125;g31ae5748121_0_4"/>
          <p:cNvSpPr txBox="1"/>
          <p:nvPr/>
        </p:nvSpPr>
        <p:spPr>
          <a:xfrm>
            <a:off x="6975000" y="3481850"/>
            <a:ext cx="54429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Times New Roman"/>
                <a:ea typeface="Times New Roman"/>
                <a:cs typeface="Times New Roman"/>
                <a:sym typeface="Times New Roman"/>
              </a:rPr>
              <a:t>ORIGINAL IMAGE                              ENHANCED IMAGE</a:t>
            </a:r>
            <a:endParaRPr b="1">
              <a:latin typeface="Times New Roman"/>
              <a:ea typeface="Times New Roman"/>
              <a:cs typeface="Times New Roman"/>
              <a:sym typeface="Times New Roman"/>
            </a:endParaRPr>
          </a:p>
        </p:txBody>
      </p:sp>
      <p:sp>
        <p:nvSpPr>
          <p:cNvPr id="126" name="Google Shape;126;g31ae5748121_0_4"/>
          <p:cNvSpPr txBox="1"/>
          <p:nvPr/>
        </p:nvSpPr>
        <p:spPr>
          <a:xfrm>
            <a:off x="3635550" y="6181075"/>
            <a:ext cx="5442900" cy="25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Times New Roman"/>
                <a:ea typeface="Times New Roman"/>
                <a:cs typeface="Times New Roman"/>
                <a:sym typeface="Times New Roman"/>
              </a:rPr>
              <a:t>ORIGINAL IMAGE                              ENHANCED IMAGE</a:t>
            </a:r>
            <a:endParaRPr b="1">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1ae5748121_0_65"/>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2" name="Google Shape;132;g31ae5748121_0_65"/>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Conclusion &amp; Future Work</a:t>
            </a:r>
            <a:endParaRPr b="0" i="0" sz="1400" u="none" cap="none" strike="noStrike">
              <a:solidFill>
                <a:srgbClr val="000000"/>
              </a:solidFill>
              <a:latin typeface="Arial"/>
              <a:ea typeface="Arial"/>
              <a:cs typeface="Arial"/>
              <a:sym typeface="Arial"/>
            </a:endParaRPr>
          </a:p>
        </p:txBody>
      </p:sp>
      <p:sp>
        <p:nvSpPr>
          <p:cNvPr id="133" name="Google Shape;133;g31ae5748121_0_65"/>
          <p:cNvSpPr txBox="1"/>
          <p:nvPr/>
        </p:nvSpPr>
        <p:spPr>
          <a:xfrm>
            <a:off x="452283" y="871532"/>
            <a:ext cx="11326761" cy="5735761"/>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700"/>
              <a:t>Summary and Conclusion</a:t>
            </a:r>
            <a:endParaRPr b="1" sz="1700"/>
          </a:p>
          <a:p>
            <a:pPr indent="0" lvl="0" marL="0" rtl="0" algn="l">
              <a:lnSpc>
                <a:spcPct val="115000"/>
              </a:lnSpc>
              <a:spcBef>
                <a:spcPts val="1200"/>
              </a:spcBef>
              <a:spcAft>
                <a:spcPts val="0"/>
              </a:spcAft>
              <a:buNone/>
            </a:pPr>
            <a:r>
              <a:rPr lang="en-US" sz="1700"/>
              <a:t>A MATLAB-based image enhancement pipeline was developed using techniques such as CLAHE, White Balance, and Dehazing to improve contrast, brightness, sharpness, and color fidelity. The implemented methods effectively restored clarity and essential details, demonstrating notable improvements in overall image quality. The modular design allowed efficient processing and flexible parameter tuning, providing a strong foundation for subsequent tasks such as segmentation, feature extraction, and stitching.</a:t>
            </a:r>
            <a:endParaRPr sz="1700"/>
          </a:p>
          <a:p>
            <a:pPr indent="0" lvl="0" marL="0" rtl="0" algn="l">
              <a:lnSpc>
                <a:spcPct val="115000"/>
              </a:lnSpc>
              <a:spcBef>
                <a:spcPts val="1200"/>
              </a:spcBef>
              <a:spcAft>
                <a:spcPts val="0"/>
              </a:spcAft>
              <a:buNone/>
            </a:pPr>
            <a:r>
              <a:rPr lang="en-US" sz="1700"/>
              <a:t>Limitations include the potential for over-enhancement, reliance on parameter selection, and the absence of absolute ground truth for quantitative evaluation</a:t>
            </a:r>
            <a:r>
              <a:rPr lang="en-US" sz="1600"/>
              <a:t>.</a:t>
            </a:r>
            <a:endParaRPr sz="1600"/>
          </a:p>
          <a:p>
            <a:pPr indent="0" lvl="0" marL="0" rtl="0" algn="l">
              <a:lnSpc>
                <a:spcPct val="115000"/>
              </a:lnSpc>
              <a:spcBef>
                <a:spcPts val="1400"/>
              </a:spcBef>
              <a:spcAft>
                <a:spcPts val="0"/>
              </a:spcAft>
              <a:buNone/>
            </a:pPr>
            <a:r>
              <a:rPr b="1" lang="en-US" sz="1800"/>
              <a:t>Future Work</a:t>
            </a:r>
            <a:endParaRPr b="1" sz="1800"/>
          </a:p>
          <a:p>
            <a:pPr indent="-336550" lvl="0" marL="457200" rtl="0" algn="l">
              <a:lnSpc>
                <a:spcPct val="115000"/>
              </a:lnSpc>
              <a:spcBef>
                <a:spcPts val="1200"/>
              </a:spcBef>
              <a:spcAft>
                <a:spcPts val="0"/>
              </a:spcAft>
              <a:buSzPts val="1700"/>
              <a:buAutoNum type="arabicPeriod"/>
            </a:pPr>
            <a:r>
              <a:rPr lang="en-US" sz="1700"/>
              <a:t>Explore multi-layer decomposition (base/detail layers) for selective enhancement, minimizing artifacts while preserving essential image features.</a:t>
            </a:r>
            <a:endParaRPr sz="1700"/>
          </a:p>
          <a:p>
            <a:pPr indent="-336550" lvl="0" marL="457200" rtl="0" algn="l">
              <a:lnSpc>
                <a:spcPct val="115000"/>
              </a:lnSpc>
              <a:spcBef>
                <a:spcPts val="0"/>
              </a:spcBef>
              <a:spcAft>
                <a:spcPts val="0"/>
              </a:spcAft>
              <a:buSzPts val="1700"/>
              <a:buAutoNum type="arabicPeriod"/>
            </a:pPr>
            <a:r>
              <a:rPr lang="en-US" sz="1700"/>
              <a:t>Integrate deep learning models (CNNs, GANs, Transformers) for adaptive and environment-specific enhancement.</a:t>
            </a:r>
            <a:endParaRPr sz="1700"/>
          </a:p>
          <a:p>
            <a:pPr indent="-336550" lvl="0" marL="457200" rtl="0" algn="l">
              <a:lnSpc>
                <a:spcPct val="115000"/>
              </a:lnSpc>
              <a:spcBef>
                <a:spcPts val="0"/>
              </a:spcBef>
              <a:spcAft>
                <a:spcPts val="0"/>
              </a:spcAft>
              <a:buSzPts val="1700"/>
              <a:buAutoNum type="arabicPeriod"/>
            </a:pPr>
            <a:r>
              <a:rPr lang="en-US" sz="1700"/>
              <a:t>Optimize enhancement pipelines to improve perceptual quality and support downstream tasks, including medical imaging, remote sensing, surveillance, and automated analysis.</a:t>
            </a:r>
            <a:endParaRPr sz="1700"/>
          </a:p>
          <a:p>
            <a:pPr indent="0" lvl="0" marL="457200" marR="0" rtl="0" algn="l">
              <a:lnSpc>
                <a:spcPct val="100000"/>
              </a:lnSpc>
              <a:spcBef>
                <a:spcPts val="1200"/>
              </a:spcBef>
              <a:spcAft>
                <a:spcPts val="0"/>
              </a:spcAft>
              <a:buNone/>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fee63df26b_0_0"/>
          <p:cNvSpPr txBox="1"/>
          <p:nvPr/>
        </p:nvSpPr>
        <p:spPr>
          <a:xfrm>
            <a:off x="1233714" y="2607717"/>
            <a:ext cx="9724500" cy="186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1" i="0" lang="en-US" sz="11500" u="none" cap="none" strike="noStrike">
                <a:solidFill>
                  <a:srgbClr val="007069"/>
                </a:solidFill>
                <a:latin typeface="Open Sans"/>
                <a:ea typeface="Open Sans"/>
                <a:cs typeface="Open Sans"/>
                <a:sym typeface="Open Sans"/>
              </a:rPr>
              <a:t>THANK </a:t>
            </a:r>
            <a:r>
              <a:rPr b="1" i="0" lang="en-US" sz="11500" u="none" cap="none" strike="noStrike">
                <a:solidFill>
                  <a:srgbClr val="A5A5A5"/>
                </a:solidFill>
                <a:latin typeface="Open Sans"/>
                <a:ea typeface="Open Sans"/>
                <a:cs typeface="Open Sans"/>
                <a:sym typeface="Open Sans"/>
              </a:rPr>
              <a:t>YOU</a:t>
            </a:r>
            <a:endParaRPr b="0" i="0" sz="1400" u="none" cap="none" strike="noStrike">
              <a:solidFill>
                <a:srgbClr val="000000"/>
              </a:solidFill>
              <a:latin typeface="Aharoni"/>
              <a:ea typeface="Aharoni"/>
              <a:cs typeface="Aharoni"/>
              <a:sym typeface="Aharoni"/>
            </a:endParaRPr>
          </a:p>
        </p:txBody>
      </p:sp>
      <p:sp>
        <p:nvSpPr>
          <p:cNvPr id="139" name="Google Shape;139;g2fee63df26b_0_0"/>
          <p:cNvSpPr txBox="1"/>
          <p:nvPr/>
        </p:nvSpPr>
        <p:spPr>
          <a:xfrm>
            <a:off x="1596571" y="4466045"/>
            <a:ext cx="899880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7F7F7F"/>
                </a:solidFill>
                <a:latin typeface="Open Sans"/>
                <a:ea typeface="Open Sans"/>
                <a:cs typeface="Open Sans"/>
                <a:sym typeface="Open Sans"/>
              </a:rPr>
              <a:t>Have a Great Day ! </a:t>
            </a:r>
            <a:endParaRPr b="0" i="0" sz="1400" u="none" cap="none" strike="noStrike">
              <a:solidFill>
                <a:srgbClr val="000000"/>
              </a:solidFill>
              <a:latin typeface="Aharoni"/>
              <a:ea typeface="Aharoni"/>
              <a:cs typeface="Aharoni"/>
              <a:sym typeface="Aharon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2022-05-23T07:15:42Z</dcterms:created>
  <dc:creator>GITAM</dc:creator>
</cp:coreProperties>
</file>